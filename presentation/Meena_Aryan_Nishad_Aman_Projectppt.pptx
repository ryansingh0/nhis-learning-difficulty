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6"/>
  </p:notesMasterIdLst>
  <p:sldIdLst>
    <p:sldId id="298" r:id="rId5"/>
    <p:sldId id="301" r:id="rId6"/>
    <p:sldId id="302" r:id="rId7"/>
    <p:sldId id="303" r:id="rId8"/>
    <p:sldId id="304" r:id="rId9"/>
    <p:sldId id="305" r:id="rId10"/>
    <p:sldId id="306" r:id="rId11"/>
    <p:sldId id="307" r:id="rId12"/>
    <p:sldId id="308" r:id="rId13"/>
    <p:sldId id="309" r:id="rId14"/>
    <p:sldId id="310" r:id="rId15"/>
    <p:sldId id="319" r:id="rId16"/>
    <p:sldId id="318" r:id="rId17"/>
    <p:sldId id="316" r:id="rId18"/>
    <p:sldId id="320" r:id="rId19"/>
    <p:sldId id="311" r:id="rId20"/>
    <p:sldId id="312" r:id="rId21"/>
    <p:sldId id="313" r:id="rId22"/>
    <p:sldId id="314" r:id="rId23"/>
    <p:sldId id="315" r:id="rId24"/>
    <p:sldId id="31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E35ACD-106E-4150-AD87-4BAEF02802FB}" v="43" dt="2025-12-10T23:08:12.1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58065" autoAdjust="0"/>
  </p:normalViewPr>
  <p:slideViewPr>
    <p:cSldViewPr snapToGrid="0">
      <p:cViewPr varScale="1">
        <p:scale>
          <a:sx n="46" d="100"/>
          <a:sy n="46" d="100"/>
        </p:scale>
        <p:origin x="38" y="2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N SINGH" userId="5b6df1735d97be05" providerId="LiveId" clId="{BCE12ADE-1C14-471F-9AE0-E616C3FC984A}"/>
    <pc:docChg chg="undo redo custSel addSld delSld modSld">
      <pc:chgData name="ARYAN SINGH" userId="5b6df1735d97be05" providerId="LiveId" clId="{BCE12ADE-1C14-471F-9AE0-E616C3FC984A}" dt="2025-12-10T23:39:12.665" v="3611" actId="20577"/>
      <pc:docMkLst>
        <pc:docMk/>
      </pc:docMkLst>
      <pc:sldChg chg="modSp mod modNotesTx">
        <pc:chgData name="ARYAN SINGH" userId="5b6df1735d97be05" providerId="LiveId" clId="{BCE12ADE-1C14-471F-9AE0-E616C3FC984A}" dt="2025-12-10T21:46:29.560" v="1748" actId="1036"/>
        <pc:sldMkLst>
          <pc:docMk/>
          <pc:sldMk cId="193143965" sldId="298"/>
        </pc:sldMkLst>
        <pc:spChg chg="mod">
          <ac:chgData name="ARYAN SINGH" userId="5b6df1735d97be05" providerId="LiveId" clId="{BCE12ADE-1C14-471F-9AE0-E616C3FC984A}" dt="2025-12-10T21:46:09.277" v="1729" actId="1076"/>
          <ac:spMkLst>
            <pc:docMk/>
            <pc:sldMk cId="193143965" sldId="298"/>
            <ac:spMk id="2" creationId="{9AB2EA78-AEB3-469B-9025-3B17201A457B}"/>
          </ac:spMkLst>
        </pc:spChg>
        <pc:spChg chg="mod">
          <ac:chgData name="ARYAN SINGH" userId="5b6df1735d97be05" providerId="LiveId" clId="{BCE12ADE-1C14-471F-9AE0-E616C3FC984A}" dt="2025-12-10T21:46:24.398" v="1747" actId="20577"/>
          <ac:spMkLst>
            <pc:docMk/>
            <pc:sldMk cId="193143965" sldId="298"/>
            <ac:spMk id="3" creationId="{255E1F2F-E259-4EA8-9FFD-3A10AF541859}"/>
          </ac:spMkLst>
        </pc:spChg>
        <pc:picChg chg="mod">
          <ac:chgData name="ARYAN SINGH" userId="5b6df1735d97be05" providerId="LiveId" clId="{BCE12ADE-1C14-471F-9AE0-E616C3FC984A}" dt="2025-12-10T21:46:29.560" v="1748" actId="1036"/>
          <ac:picMkLst>
            <pc:docMk/>
            <pc:sldMk cId="193143965" sldId="298"/>
            <ac:picMk id="4" creationId="{65810330-F0B5-43C9-BC34-094FFB5C0529}"/>
          </ac:picMkLst>
        </pc:picChg>
      </pc:sldChg>
      <pc:sldChg chg="modSp mod">
        <pc:chgData name="ARYAN SINGH" userId="5b6df1735d97be05" providerId="LiveId" clId="{BCE12ADE-1C14-471F-9AE0-E616C3FC984A}" dt="2025-12-10T21:46:37.077" v="1754" actId="20577"/>
        <pc:sldMkLst>
          <pc:docMk/>
          <pc:sldMk cId="1017254676" sldId="301"/>
        </pc:sldMkLst>
        <pc:spChg chg="mod">
          <ac:chgData name="ARYAN SINGH" userId="5b6df1735d97be05" providerId="LiveId" clId="{BCE12ADE-1C14-471F-9AE0-E616C3FC984A}" dt="2025-12-10T21:46:37.077" v="1754" actId="20577"/>
          <ac:spMkLst>
            <pc:docMk/>
            <pc:sldMk cId="1017254676" sldId="301"/>
            <ac:spMk id="3" creationId="{ACAF10D0-E8AB-04E9-81E9-F34DC91A34DE}"/>
          </ac:spMkLst>
        </pc:spChg>
      </pc:sldChg>
      <pc:sldChg chg="modSp mod">
        <pc:chgData name="ARYAN SINGH" userId="5b6df1735d97be05" providerId="LiveId" clId="{BCE12ADE-1C14-471F-9AE0-E616C3FC984A}" dt="2025-12-10T18:05:43.913" v="1477" actId="2711"/>
        <pc:sldMkLst>
          <pc:docMk/>
          <pc:sldMk cId="1351973617" sldId="302"/>
        </pc:sldMkLst>
        <pc:spChg chg="mod">
          <ac:chgData name="ARYAN SINGH" userId="5b6df1735d97be05" providerId="LiveId" clId="{BCE12ADE-1C14-471F-9AE0-E616C3FC984A}" dt="2025-12-10T18:05:43.913" v="1477" actId="2711"/>
          <ac:spMkLst>
            <pc:docMk/>
            <pc:sldMk cId="1351973617" sldId="302"/>
            <ac:spMk id="2" creationId="{ACECA25E-32CF-FD15-5648-F8C995350931}"/>
          </ac:spMkLst>
        </pc:spChg>
        <pc:spChg chg="mod">
          <ac:chgData name="ARYAN SINGH" userId="5b6df1735d97be05" providerId="LiveId" clId="{BCE12ADE-1C14-471F-9AE0-E616C3FC984A}" dt="2025-12-10T18:05:35.011" v="1475" actId="2711"/>
          <ac:spMkLst>
            <pc:docMk/>
            <pc:sldMk cId="1351973617" sldId="302"/>
            <ac:spMk id="3" creationId="{49B1E913-69D4-2395-DCB9-14E4883D9C31}"/>
          </ac:spMkLst>
        </pc:spChg>
      </pc:sldChg>
      <pc:sldChg chg="modSp mod">
        <pc:chgData name="ARYAN SINGH" userId="5b6df1735d97be05" providerId="LiveId" clId="{BCE12ADE-1C14-471F-9AE0-E616C3FC984A}" dt="2025-12-10T18:05:52.856" v="1478" actId="2711"/>
        <pc:sldMkLst>
          <pc:docMk/>
          <pc:sldMk cId="2628708909" sldId="303"/>
        </pc:sldMkLst>
        <pc:spChg chg="mod">
          <ac:chgData name="ARYAN SINGH" userId="5b6df1735d97be05" providerId="LiveId" clId="{BCE12ADE-1C14-471F-9AE0-E616C3FC984A}" dt="2025-12-10T18:05:52.856" v="1478" actId="2711"/>
          <ac:spMkLst>
            <pc:docMk/>
            <pc:sldMk cId="2628708909" sldId="303"/>
            <ac:spMk id="3" creationId="{1E571325-7722-7E15-46EC-DFAC8D00DBD7}"/>
          </ac:spMkLst>
        </pc:spChg>
      </pc:sldChg>
      <pc:sldChg chg="modSp mod">
        <pc:chgData name="ARYAN SINGH" userId="5b6df1735d97be05" providerId="LiveId" clId="{BCE12ADE-1C14-471F-9AE0-E616C3FC984A}" dt="2025-12-10T18:05:59.337" v="1479" actId="2711"/>
        <pc:sldMkLst>
          <pc:docMk/>
          <pc:sldMk cId="510799905" sldId="304"/>
        </pc:sldMkLst>
        <pc:spChg chg="mod">
          <ac:chgData name="ARYAN SINGH" userId="5b6df1735d97be05" providerId="LiveId" clId="{BCE12ADE-1C14-471F-9AE0-E616C3FC984A}" dt="2025-12-10T18:05:59.337" v="1479" actId="2711"/>
          <ac:spMkLst>
            <pc:docMk/>
            <pc:sldMk cId="510799905" sldId="304"/>
            <ac:spMk id="3" creationId="{5036F01D-5E96-5682-4029-06A00C6D8F43}"/>
          </ac:spMkLst>
        </pc:spChg>
      </pc:sldChg>
      <pc:sldChg chg="modSp mod">
        <pc:chgData name="ARYAN SINGH" userId="5b6df1735d97be05" providerId="LiveId" clId="{BCE12ADE-1C14-471F-9AE0-E616C3FC984A}" dt="2025-12-10T23:39:12.665" v="3611" actId="20577"/>
        <pc:sldMkLst>
          <pc:docMk/>
          <pc:sldMk cId="3261259584" sldId="305"/>
        </pc:sldMkLst>
        <pc:spChg chg="mod">
          <ac:chgData name="ARYAN SINGH" userId="5b6df1735d97be05" providerId="LiveId" clId="{BCE12ADE-1C14-471F-9AE0-E616C3FC984A}" dt="2025-12-10T23:39:12.665" v="3611" actId="20577"/>
          <ac:spMkLst>
            <pc:docMk/>
            <pc:sldMk cId="3261259584" sldId="305"/>
            <ac:spMk id="3" creationId="{B84D7403-BF17-8BA1-8CEB-8B131D5776AD}"/>
          </ac:spMkLst>
        </pc:spChg>
      </pc:sldChg>
      <pc:sldChg chg="modSp mod">
        <pc:chgData name="ARYAN SINGH" userId="5b6df1735d97be05" providerId="LiveId" clId="{BCE12ADE-1C14-471F-9AE0-E616C3FC984A}" dt="2025-12-10T20:49:32.842" v="1602" actId="2711"/>
        <pc:sldMkLst>
          <pc:docMk/>
          <pc:sldMk cId="2932664143" sldId="306"/>
        </pc:sldMkLst>
        <pc:spChg chg="mod">
          <ac:chgData name="ARYAN SINGH" userId="5b6df1735d97be05" providerId="LiveId" clId="{BCE12ADE-1C14-471F-9AE0-E616C3FC984A}" dt="2025-12-10T20:49:32.842" v="1602" actId="2711"/>
          <ac:spMkLst>
            <pc:docMk/>
            <pc:sldMk cId="2932664143" sldId="306"/>
            <ac:spMk id="3" creationId="{CEAE6F7D-5CF2-7ECB-A5C3-4F1ADE5C3CC9}"/>
          </ac:spMkLst>
        </pc:spChg>
      </pc:sldChg>
      <pc:sldChg chg="modSp mod">
        <pc:chgData name="ARYAN SINGH" userId="5b6df1735d97be05" providerId="LiveId" clId="{BCE12ADE-1C14-471F-9AE0-E616C3FC984A}" dt="2025-12-10T20:49:33.047" v="1603" actId="2711"/>
        <pc:sldMkLst>
          <pc:docMk/>
          <pc:sldMk cId="2188404402" sldId="307"/>
        </pc:sldMkLst>
        <pc:spChg chg="mod">
          <ac:chgData name="ARYAN SINGH" userId="5b6df1735d97be05" providerId="LiveId" clId="{BCE12ADE-1C14-471F-9AE0-E616C3FC984A}" dt="2025-12-10T20:49:33.047" v="1603" actId="2711"/>
          <ac:spMkLst>
            <pc:docMk/>
            <pc:sldMk cId="2188404402" sldId="307"/>
            <ac:spMk id="3" creationId="{D48F50B5-00A7-C48D-9B8D-FE66F037ECB8}"/>
          </ac:spMkLst>
        </pc:spChg>
      </pc:sldChg>
      <pc:sldChg chg="modSp mod">
        <pc:chgData name="ARYAN SINGH" userId="5b6df1735d97be05" providerId="LiveId" clId="{BCE12ADE-1C14-471F-9AE0-E616C3FC984A}" dt="2025-12-10T21:50:36.965" v="1799" actId="20577"/>
        <pc:sldMkLst>
          <pc:docMk/>
          <pc:sldMk cId="2585720470" sldId="308"/>
        </pc:sldMkLst>
        <pc:spChg chg="mod">
          <ac:chgData name="ARYAN SINGH" userId="5b6df1735d97be05" providerId="LiveId" clId="{BCE12ADE-1C14-471F-9AE0-E616C3FC984A}" dt="2025-12-10T21:50:36.965" v="1799" actId="20577"/>
          <ac:spMkLst>
            <pc:docMk/>
            <pc:sldMk cId="2585720470" sldId="308"/>
            <ac:spMk id="3" creationId="{E6E4C190-48D2-AD3B-2208-82E0BD78C2AB}"/>
          </ac:spMkLst>
        </pc:spChg>
      </pc:sldChg>
      <pc:sldChg chg="modSp mod">
        <pc:chgData name="ARYAN SINGH" userId="5b6df1735d97be05" providerId="LiveId" clId="{BCE12ADE-1C14-471F-9AE0-E616C3FC984A}" dt="2025-12-10T20:49:33.823" v="1605" actId="2711"/>
        <pc:sldMkLst>
          <pc:docMk/>
          <pc:sldMk cId="1841501547" sldId="309"/>
        </pc:sldMkLst>
        <pc:spChg chg="mod">
          <ac:chgData name="ARYAN SINGH" userId="5b6df1735d97be05" providerId="LiveId" clId="{BCE12ADE-1C14-471F-9AE0-E616C3FC984A}" dt="2025-12-10T20:49:33.823" v="1605" actId="2711"/>
          <ac:spMkLst>
            <pc:docMk/>
            <pc:sldMk cId="1841501547" sldId="309"/>
            <ac:spMk id="3" creationId="{1752AEE1-1F20-DD63-EC5D-A85446EBD08A}"/>
          </ac:spMkLst>
        </pc:spChg>
      </pc:sldChg>
      <pc:sldChg chg="addSp delSp modSp mod">
        <pc:chgData name="ARYAN SINGH" userId="5b6df1735d97be05" providerId="LiveId" clId="{BCE12ADE-1C14-471F-9AE0-E616C3FC984A}" dt="2025-12-10T22:44:26.453" v="2968" actId="20577"/>
        <pc:sldMkLst>
          <pc:docMk/>
          <pc:sldMk cId="3082037918" sldId="310"/>
        </pc:sldMkLst>
        <pc:spChg chg="mod">
          <ac:chgData name="ARYAN SINGH" userId="5b6df1735d97be05" providerId="LiveId" clId="{BCE12ADE-1C14-471F-9AE0-E616C3FC984A}" dt="2025-12-10T22:44:26.453" v="2968" actId="20577"/>
          <ac:spMkLst>
            <pc:docMk/>
            <pc:sldMk cId="3082037918" sldId="310"/>
            <ac:spMk id="3" creationId="{B4208481-147E-B793-12F1-02187C164FE1}"/>
          </ac:spMkLst>
        </pc:spChg>
        <pc:picChg chg="del">
          <ac:chgData name="ARYAN SINGH" userId="5b6df1735d97be05" providerId="LiveId" clId="{BCE12ADE-1C14-471F-9AE0-E616C3FC984A}" dt="2025-12-10T12:37:35.384" v="1388" actId="21"/>
          <ac:picMkLst>
            <pc:docMk/>
            <pc:sldMk cId="3082037918" sldId="310"/>
            <ac:picMk id="4" creationId="{19474886-91FB-8BCC-5809-B74BC2A7C142}"/>
          </ac:picMkLst>
        </pc:picChg>
        <pc:picChg chg="add mod">
          <ac:chgData name="ARYAN SINGH" userId="5b6df1735d97be05" providerId="LiveId" clId="{BCE12ADE-1C14-471F-9AE0-E616C3FC984A}" dt="2025-12-10T21:55:55.315" v="1804" actId="1076"/>
          <ac:picMkLst>
            <pc:docMk/>
            <pc:sldMk cId="3082037918" sldId="310"/>
            <ac:picMk id="5" creationId="{260638A0-3D30-1598-2854-E306FC12B1DB}"/>
          </ac:picMkLst>
        </pc:picChg>
        <pc:picChg chg="add del mod">
          <ac:chgData name="ARYAN SINGH" userId="5b6df1735d97be05" providerId="LiveId" clId="{BCE12ADE-1C14-471F-9AE0-E616C3FC984A}" dt="2025-12-10T21:55:49.783" v="1801" actId="21"/>
          <ac:picMkLst>
            <pc:docMk/>
            <pc:sldMk cId="3082037918" sldId="310"/>
            <ac:picMk id="6" creationId="{B9625322-4FCC-5D1A-EF85-55D848D99BA6}"/>
          </ac:picMkLst>
        </pc:picChg>
      </pc:sldChg>
      <pc:sldChg chg="addSp delSp modSp mod">
        <pc:chgData name="ARYAN SINGH" userId="5b6df1735d97be05" providerId="LiveId" clId="{BCE12ADE-1C14-471F-9AE0-E616C3FC984A}" dt="2025-12-10T22:51:40.010" v="3247" actId="20577"/>
        <pc:sldMkLst>
          <pc:docMk/>
          <pc:sldMk cId="2918813353" sldId="311"/>
        </pc:sldMkLst>
        <pc:spChg chg="mod">
          <ac:chgData name="ARYAN SINGH" userId="5b6df1735d97be05" providerId="LiveId" clId="{BCE12ADE-1C14-471F-9AE0-E616C3FC984A}" dt="2025-12-10T22:51:40.010" v="3247" actId="20577"/>
          <ac:spMkLst>
            <pc:docMk/>
            <pc:sldMk cId="2918813353" sldId="311"/>
            <ac:spMk id="3" creationId="{E5557531-7DBE-97FD-4BAA-1DB20DBA23DF}"/>
          </ac:spMkLst>
        </pc:spChg>
        <pc:picChg chg="add del mod">
          <ac:chgData name="ARYAN SINGH" userId="5b6df1735d97be05" providerId="LiveId" clId="{BCE12ADE-1C14-471F-9AE0-E616C3FC984A}" dt="2025-12-10T22:00:54.676" v="2437" actId="21"/>
          <ac:picMkLst>
            <pc:docMk/>
            <pc:sldMk cId="2918813353" sldId="311"/>
            <ac:picMk id="5" creationId="{5EAFAADB-FFF5-54A3-F163-811BCA58F601}"/>
          </ac:picMkLst>
        </pc:picChg>
        <pc:picChg chg="mod">
          <ac:chgData name="ARYAN SINGH" userId="5b6df1735d97be05" providerId="LiveId" clId="{BCE12ADE-1C14-471F-9AE0-E616C3FC984A}" dt="2025-12-10T11:23:54.155" v="1220" actId="14100"/>
          <ac:picMkLst>
            <pc:docMk/>
            <pc:sldMk cId="2918813353" sldId="311"/>
            <ac:picMk id="6" creationId="{B71C74B1-4AD9-D77B-9FEC-DB34B95B663B}"/>
          </ac:picMkLst>
        </pc:picChg>
        <pc:picChg chg="add mod">
          <ac:chgData name="ARYAN SINGH" userId="5b6df1735d97be05" providerId="LiveId" clId="{BCE12ADE-1C14-471F-9AE0-E616C3FC984A}" dt="2025-12-10T22:01:15.921" v="2442" actId="1076"/>
          <ac:picMkLst>
            <pc:docMk/>
            <pc:sldMk cId="2918813353" sldId="311"/>
            <ac:picMk id="7" creationId="{E6EE0EC2-1BB7-CB6B-0ED5-CFAA4884FBC5}"/>
          </ac:picMkLst>
        </pc:picChg>
      </pc:sldChg>
      <pc:sldChg chg="addSp delSp modSp mod">
        <pc:chgData name="ARYAN SINGH" userId="5b6df1735d97be05" providerId="LiveId" clId="{BCE12ADE-1C14-471F-9AE0-E616C3FC984A}" dt="2025-12-10T22:54:12.598" v="3287" actId="20577"/>
        <pc:sldMkLst>
          <pc:docMk/>
          <pc:sldMk cId="2093123565" sldId="312"/>
        </pc:sldMkLst>
        <pc:spChg chg="mod">
          <ac:chgData name="ARYAN SINGH" userId="5b6df1735d97be05" providerId="LiveId" clId="{BCE12ADE-1C14-471F-9AE0-E616C3FC984A}" dt="2025-12-10T22:54:12.598" v="3287" actId="20577"/>
          <ac:spMkLst>
            <pc:docMk/>
            <pc:sldMk cId="2093123565" sldId="312"/>
            <ac:spMk id="3" creationId="{26A9B476-BABD-9058-738E-ADBC5BDE1983}"/>
          </ac:spMkLst>
        </pc:spChg>
        <pc:spChg chg="add mod">
          <ac:chgData name="ARYAN SINGH" userId="5b6df1735d97be05" providerId="LiveId" clId="{BCE12ADE-1C14-471F-9AE0-E616C3FC984A}" dt="2025-12-10T22:01:30.544" v="2443" actId="1035"/>
          <ac:spMkLst>
            <pc:docMk/>
            <pc:sldMk cId="2093123565" sldId="312"/>
            <ac:spMk id="5" creationId="{2A1F2987-D250-EE61-9E33-FFF3DCF6971F}"/>
          </ac:spMkLst>
        </pc:spChg>
        <pc:spChg chg="add">
          <ac:chgData name="ARYAN SINGH" userId="5b6df1735d97be05" providerId="LiveId" clId="{BCE12ADE-1C14-471F-9AE0-E616C3FC984A}" dt="2025-12-10T10:48:56.636" v="1181"/>
          <ac:spMkLst>
            <pc:docMk/>
            <pc:sldMk cId="2093123565" sldId="312"/>
            <ac:spMk id="8" creationId="{DE2F072D-C514-EF13-FB9E-E9D9F093BD48}"/>
          </ac:spMkLst>
        </pc:spChg>
        <pc:spChg chg="add">
          <ac:chgData name="ARYAN SINGH" userId="5b6df1735d97be05" providerId="LiveId" clId="{BCE12ADE-1C14-471F-9AE0-E616C3FC984A}" dt="2025-12-10T10:49:05.429" v="1182"/>
          <ac:spMkLst>
            <pc:docMk/>
            <pc:sldMk cId="2093123565" sldId="312"/>
            <ac:spMk id="9" creationId="{6038E0EB-19CE-EF6A-D94B-6CF0846FD3D7}"/>
          </ac:spMkLst>
        </pc:spChg>
        <pc:spChg chg="add">
          <ac:chgData name="ARYAN SINGH" userId="5b6df1735d97be05" providerId="LiveId" clId="{BCE12ADE-1C14-471F-9AE0-E616C3FC984A}" dt="2025-12-10T10:49:24.271" v="1183"/>
          <ac:spMkLst>
            <pc:docMk/>
            <pc:sldMk cId="2093123565" sldId="312"/>
            <ac:spMk id="10" creationId="{1DFA2A87-FC93-7CB9-CAB1-BFD707BB74C9}"/>
          </ac:spMkLst>
        </pc:spChg>
        <pc:picChg chg="mod">
          <ac:chgData name="ARYAN SINGH" userId="5b6df1735d97be05" providerId="LiveId" clId="{BCE12ADE-1C14-471F-9AE0-E616C3FC984A}" dt="2025-12-10T10:46:54.120" v="1177" actId="1076"/>
          <ac:picMkLst>
            <pc:docMk/>
            <pc:sldMk cId="2093123565" sldId="312"/>
            <ac:picMk id="4" creationId="{A21E0EEA-394D-E406-8E26-E48C9D30BCF6}"/>
          </ac:picMkLst>
        </pc:picChg>
        <pc:picChg chg="add del mod">
          <ac:chgData name="ARYAN SINGH" userId="5b6df1735d97be05" providerId="LiveId" clId="{BCE12ADE-1C14-471F-9AE0-E616C3FC984A}" dt="2025-12-10T22:24:23.560" v="2444" actId="21"/>
          <ac:picMkLst>
            <pc:docMk/>
            <pc:sldMk cId="2093123565" sldId="312"/>
            <ac:picMk id="7" creationId="{2112B6FE-45A2-7F93-808D-403C197E88E2}"/>
          </ac:picMkLst>
        </pc:picChg>
        <pc:picChg chg="add mod">
          <ac:chgData name="ARYAN SINGH" userId="5b6df1735d97be05" providerId="LiveId" clId="{BCE12ADE-1C14-471F-9AE0-E616C3FC984A}" dt="2025-12-10T22:24:47.615" v="2448" actId="14100"/>
          <ac:picMkLst>
            <pc:docMk/>
            <pc:sldMk cId="2093123565" sldId="312"/>
            <ac:picMk id="8" creationId="{B685EE61-1C5F-FDBF-4871-5F0AE6AC4D91}"/>
          </ac:picMkLst>
        </pc:picChg>
      </pc:sldChg>
      <pc:sldChg chg="modSp mod">
        <pc:chgData name="ARYAN SINGH" userId="5b6df1735d97be05" providerId="LiveId" clId="{BCE12ADE-1C14-471F-9AE0-E616C3FC984A}" dt="2025-12-10T20:49:35.325" v="1611" actId="2711"/>
        <pc:sldMkLst>
          <pc:docMk/>
          <pc:sldMk cId="3411618098" sldId="313"/>
        </pc:sldMkLst>
        <pc:spChg chg="mod">
          <ac:chgData name="ARYAN SINGH" userId="5b6df1735d97be05" providerId="LiveId" clId="{BCE12ADE-1C14-471F-9AE0-E616C3FC984A}" dt="2025-12-10T20:49:35.325" v="1611" actId="2711"/>
          <ac:spMkLst>
            <pc:docMk/>
            <pc:sldMk cId="3411618098" sldId="313"/>
            <ac:spMk id="3" creationId="{3E52A6EA-04FD-27A9-7CD2-9F36451BE31F}"/>
          </ac:spMkLst>
        </pc:spChg>
      </pc:sldChg>
      <pc:sldChg chg="modSp mod">
        <pc:chgData name="ARYAN SINGH" userId="5b6df1735d97be05" providerId="LiveId" clId="{BCE12ADE-1C14-471F-9AE0-E616C3FC984A}" dt="2025-12-10T22:42:14.733" v="2865" actId="20577"/>
        <pc:sldMkLst>
          <pc:docMk/>
          <pc:sldMk cId="1195329727" sldId="314"/>
        </pc:sldMkLst>
        <pc:spChg chg="mod">
          <ac:chgData name="ARYAN SINGH" userId="5b6df1735d97be05" providerId="LiveId" clId="{BCE12ADE-1C14-471F-9AE0-E616C3FC984A}" dt="2025-12-10T22:42:14.733" v="2865" actId="20577"/>
          <ac:spMkLst>
            <pc:docMk/>
            <pc:sldMk cId="1195329727" sldId="314"/>
            <ac:spMk id="3" creationId="{B23441D7-EFDC-72B9-57F1-704B82FD5A66}"/>
          </ac:spMkLst>
        </pc:spChg>
      </pc:sldChg>
      <pc:sldChg chg="modSp mod">
        <pc:chgData name="ARYAN SINGH" userId="5b6df1735d97be05" providerId="LiveId" clId="{BCE12ADE-1C14-471F-9AE0-E616C3FC984A}" dt="2025-12-10T23:32:54.054" v="3473" actId="20577"/>
        <pc:sldMkLst>
          <pc:docMk/>
          <pc:sldMk cId="3310660004" sldId="315"/>
        </pc:sldMkLst>
        <pc:spChg chg="mod">
          <ac:chgData name="ARYAN SINGH" userId="5b6df1735d97be05" providerId="LiveId" clId="{BCE12ADE-1C14-471F-9AE0-E616C3FC984A}" dt="2025-12-10T23:32:54.054" v="3473" actId="20577"/>
          <ac:spMkLst>
            <pc:docMk/>
            <pc:sldMk cId="3310660004" sldId="315"/>
            <ac:spMk id="3" creationId="{C37272F5-7E2E-88C1-7EF4-BFE75D52467E}"/>
          </ac:spMkLst>
        </pc:spChg>
      </pc:sldChg>
      <pc:sldChg chg="modSp mod">
        <pc:chgData name="ARYAN SINGH" userId="5b6df1735d97be05" providerId="LiveId" clId="{BCE12ADE-1C14-471F-9AE0-E616C3FC984A}" dt="2025-12-10T09:39:05.141" v="1085" actId="20577"/>
        <pc:sldMkLst>
          <pc:docMk/>
          <pc:sldMk cId="4003058098" sldId="316"/>
        </pc:sldMkLst>
        <pc:spChg chg="mod">
          <ac:chgData name="ARYAN SINGH" userId="5b6df1735d97be05" providerId="LiveId" clId="{BCE12ADE-1C14-471F-9AE0-E616C3FC984A}" dt="2025-12-10T09:39:05.141" v="1085" actId="20577"/>
          <ac:spMkLst>
            <pc:docMk/>
            <pc:sldMk cId="4003058098" sldId="316"/>
            <ac:spMk id="6" creationId="{9BB94DF0-26CD-8B81-58A8-14C4D4BB0272}"/>
          </ac:spMkLst>
        </pc:spChg>
      </pc:sldChg>
      <pc:sldChg chg="addSp modSp mod">
        <pc:chgData name="ARYAN SINGH" userId="5b6df1735d97be05" providerId="LiveId" clId="{BCE12ADE-1C14-471F-9AE0-E616C3FC984A}" dt="2025-12-10T22:00:08.749" v="2436" actId="20577"/>
        <pc:sldMkLst>
          <pc:docMk/>
          <pc:sldMk cId="140732087" sldId="318"/>
        </pc:sldMkLst>
        <pc:spChg chg="mod">
          <ac:chgData name="ARYAN SINGH" userId="5b6df1735d97be05" providerId="LiveId" clId="{BCE12ADE-1C14-471F-9AE0-E616C3FC984A}" dt="2025-12-10T20:49:34.273" v="1607" actId="2711"/>
          <ac:spMkLst>
            <pc:docMk/>
            <pc:sldMk cId="140732087" sldId="318"/>
            <ac:spMk id="3" creationId="{7585ECC1-79F5-E9F9-6A40-BC1B57184C5B}"/>
          </ac:spMkLst>
        </pc:spChg>
        <pc:spChg chg="add mod">
          <ac:chgData name="ARYAN SINGH" userId="5b6df1735d97be05" providerId="LiveId" clId="{BCE12ADE-1C14-471F-9AE0-E616C3FC984A}" dt="2025-12-10T22:00:08.749" v="2436" actId="20577"/>
          <ac:spMkLst>
            <pc:docMk/>
            <pc:sldMk cId="140732087" sldId="318"/>
            <ac:spMk id="4" creationId="{7CCA3959-5B09-0B2B-81CD-57B9D30E1CA1}"/>
          </ac:spMkLst>
        </pc:spChg>
      </pc:sldChg>
      <pc:sldChg chg="addSp delSp modSp new mod modNotesTx">
        <pc:chgData name="ARYAN SINGH" userId="5b6df1735d97be05" providerId="LiveId" clId="{BCE12ADE-1C14-471F-9AE0-E616C3FC984A}" dt="2025-12-10T23:07:13.354" v="3392" actId="20577"/>
        <pc:sldMkLst>
          <pc:docMk/>
          <pc:sldMk cId="1666118529" sldId="319"/>
        </pc:sldMkLst>
        <pc:spChg chg="mod">
          <ac:chgData name="ARYAN SINGH" userId="5b6df1735d97be05" providerId="LiveId" clId="{BCE12ADE-1C14-471F-9AE0-E616C3FC984A}" dt="2025-12-10T08:37:50.135" v="93" actId="20577"/>
          <ac:spMkLst>
            <pc:docMk/>
            <pc:sldMk cId="1666118529" sldId="319"/>
            <ac:spMk id="2" creationId="{7F492633-3CE2-0536-DB53-61616ED9FB88}"/>
          </ac:spMkLst>
        </pc:spChg>
        <pc:spChg chg="mod">
          <ac:chgData name="ARYAN SINGH" userId="5b6df1735d97be05" providerId="LiveId" clId="{BCE12ADE-1C14-471F-9AE0-E616C3FC984A}" dt="2025-12-10T22:47:16.449" v="3137" actId="20577"/>
          <ac:spMkLst>
            <pc:docMk/>
            <pc:sldMk cId="1666118529" sldId="319"/>
            <ac:spMk id="3" creationId="{A317D8DA-1246-551E-27F0-DC5CDBBC980B}"/>
          </ac:spMkLst>
        </pc:spChg>
        <pc:spChg chg="add mod">
          <ac:chgData name="ARYAN SINGH" userId="5b6df1735d97be05" providerId="LiveId" clId="{BCE12ADE-1C14-471F-9AE0-E616C3FC984A}" dt="2025-12-10T09:19:46.031" v="671" actId="14100"/>
          <ac:spMkLst>
            <pc:docMk/>
            <pc:sldMk cId="1666118529" sldId="319"/>
            <ac:spMk id="4" creationId="{A2D3FE19-E28F-3515-43CF-8B935D4BEF8B}"/>
          </ac:spMkLst>
        </pc:spChg>
        <pc:spChg chg="add mod">
          <ac:chgData name="ARYAN SINGH" userId="5b6df1735d97be05" providerId="LiveId" clId="{BCE12ADE-1C14-471F-9AE0-E616C3FC984A}" dt="2025-12-10T09:19:59.491" v="676" actId="14100"/>
          <ac:spMkLst>
            <pc:docMk/>
            <pc:sldMk cId="1666118529" sldId="319"/>
            <ac:spMk id="5" creationId="{0C920E9B-1E2C-B769-4077-01BDDDCFE791}"/>
          </ac:spMkLst>
        </pc:spChg>
        <pc:spChg chg="add mod">
          <ac:chgData name="ARYAN SINGH" userId="5b6df1735d97be05" providerId="LiveId" clId="{BCE12ADE-1C14-471F-9AE0-E616C3FC984A}" dt="2025-12-10T09:20:04.073" v="677"/>
          <ac:spMkLst>
            <pc:docMk/>
            <pc:sldMk cId="1666118529" sldId="319"/>
            <ac:spMk id="6" creationId="{0B7B584C-84FF-FEA6-65E4-55B8BE42645F}"/>
          </ac:spMkLst>
        </pc:spChg>
        <pc:picChg chg="add del mod">
          <ac:chgData name="ARYAN SINGH" userId="5b6df1735d97be05" providerId="LiveId" clId="{BCE12ADE-1C14-471F-9AE0-E616C3FC984A}" dt="2025-12-10T21:57:28.327" v="1939" actId="21"/>
          <ac:picMkLst>
            <pc:docMk/>
            <pc:sldMk cId="1666118529" sldId="319"/>
            <ac:picMk id="8" creationId="{5951AC1C-1691-845F-982D-18C6AFFA1488}"/>
          </ac:picMkLst>
        </pc:picChg>
        <pc:picChg chg="add mod">
          <ac:chgData name="ARYAN SINGH" userId="5b6df1735d97be05" providerId="LiveId" clId="{BCE12ADE-1C14-471F-9AE0-E616C3FC984A}" dt="2025-12-10T22:47:03.134" v="3095" actId="1076"/>
          <ac:picMkLst>
            <pc:docMk/>
            <pc:sldMk cId="1666118529" sldId="319"/>
            <ac:picMk id="9" creationId="{A8CC1DBE-5608-6E24-ADFF-9700242265DC}"/>
          </ac:picMkLst>
        </pc:picChg>
      </pc:sldChg>
      <pc:sldChg chg="addSp delSp modSp new add del mod">
        <pc:chgData name="ARYAN SINGH" userId="5b6df1735d97be05" providerId="LiveId" clId="{BCE12ADE-1C14-471F-9AE0-E616C3FC984A}" dt="2025-12-10T22:39:17.896" v="2534" actId="47"/>
        <pc:sldMkLst>
          <pc:docMk/>
          <pc:sldMk cId="1111240303" sldId="320"/>
        </pc:sldMkLst>
        <pc:spChg chg="mod">
          <ac:chgData name="ARYAN SINGH" userId="5b6df1735d97be05" providerId="LiveId" clId="{BCE12ADE-1C14-471F-9AE0-E616C3FC984A}" dt="2025-12-10T09:39:25.299" v="1142" actId="20577"/>
          <ac:spMkLst>
            <pc:docMk/>
            <pc:sldMk cId="1111240303" sldId="320"/>
            <ac:spMk id="2" creationId="{B0B5EB2C-F914-E2B0-30D3-54261C36244D}"/>
          </ac:spMkLst>
        </pc:spChg>
        <pc:spChg chg="del">
          <ac:chgData name="ARYAN SINGH" userId="5b6df1735d97be05" providerId="LiveId" clId="{BCE12ADE-1C14-471F-9AE0-E616C3FC984A}" dt="2025-12-10T09:40:46.352" v="1143" actId="3680"/>
          <ac:spMkLst>
            <pc:docMk/>
            <pc:sldMk cId="1111240303" sldId="320"/>
            <ac:spMk id="3" creationId="{C37A046B-8155-581C-EC4F-BC22307DA5A6}"/>
          </ac:spMkLst>
        </pc:spChg>
        <pc:graphicFrameChg chg="add mod ord modGraphic">
          <ac:chgData name="ARYAN SINGH" userId="5b6df1735d97be05" providerId="LiveId" clId="{BCE12ADE-1C14-471F-9AE0-E616C3FC984A}" dt="2025-12-10T22:36:38.700" v="2517" actId="14100"/>
          <ac:graphicFrameMkLst>
            <pc:docMk/>
            <pc:sldMk cId="1111240303" sldId="320"/>
            <ac:graphicFrameMk id="4" creationId="{75DD4335-1201-F22C-ED7A-A5D5283F8072}"/>
          </ac:graphicFrameMkLst>
        </pc:graphicFrameChg>
        <pc:graphicFrameChg chg="add mod modGraphic">
          <ac:chgData name="ARYAN SINGH" userId="5b6df1735d97be05" providerId="LiveId" clId="{BCE12ADE-1C14-471F-9AE0-E616C3FC984A}" dt="2025-12-10T22:36:16.369" v="2511" actId="14100"/>
          <ac:graphicFrameMkLst>
            <pc:docMk/>
            <pc:sldMk cId="1111240303" sldId="320"/>
            <ac:graphicFrameMk id="5" creationId="{79E220EC-F57F-00BA-D17E-C5C3CDB0A38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92787-2CBA-4600-B9A0-45CB28CEBE1E}"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ECBDFB-B943-46A1-B173-B583C0896BCE}" type="slidenum">
              <a:rPr lang="en-US" smtClean="0"/>
              <a:t>‹#›</a:t>
            </a:fld>
            <a:endParaRPr lang="en-US"/>
          </a:p>
        </p:txBody>
      </p:sp>
    </p:spTree>
    <p:extLst>
      <p:ext uri="{BB962C8B-B14F-4D97-AF65-F5344CB8AC3E}">
        <p14:creationId xmlns:p14="http://schemas.microsoft.com/office/powerpoint/2010/main" val="3334764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Hello my name is Aryan Meena</a:t>
            </a:r>
          </a:p>
        </p:txBody>
      </p:sp>
      <p:sp>
        <p:nvSpPr>
          <p:cNvPr id="4" name="Slide Number Placeholder 3"/>
          <p:cNvSpPr>
            <a:spLocks noGrp="1"/>
          </p:cNvSpPr>
          <p:nvPr>
            <p:ph type="sldNum" sz="quarter" idx="5"/>
          </p:nvPr>
        </p:nvSpPr>
        <p:spPr/>
        <p:txBody>
          <a:bodyPr/>
          <a:lstStyle/>
          <a:p>
            <a:fld id="{7DECBDFB-B943-46A1-B173-B583C0896BCE}" type="slidenum">
              <a:rPr lang="en-US" smtClean="0"/>
              <a:t>1</a:t>
            </a:fld>
            <a:endParaRPr lang="en-US"/>
          </a:p>
        </p:txBody>
      </p:sp>
    </p:spTree>
    <p:extLst>
      <p:ext uri="{BB962C8B-B14F-4D97-AF65-F5344CB8AC3E}">
        <p14:creationId xmlns:p14="http://schemas.microsoft.com/office/powerpoint/2010/main" val="69086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ECBDFB-B943-46A1-B173-B583C0896BCE}" type="slidenum">
              <a:rPr lang="en-US" smtClean="0"/>
              <a:t>9</a:t>
            </a:fld>
            <a:endParaRPr lang="en-US"/>
          </a:p>
        </p:txBody>
      </p:sp>
    </p:spTree>
    <p:extLst>
      <p:ext uri="{BB962C8B-B14F-4D97-AF65-F5344CB8AC3E}">
        <p14:creationId xmlns:p14="http://schemas.microsoft.com/office/powerpoint/2010/main" val="484411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br>
              <a:rPr lang="en-US" dirty="0"/>
            </a:br>
            <a:r>
              <a:rPr lang="en-US" dirty="0"/>
              <a:t>Once the models were trained, we needed to pick the winner systematically. We tested each model on the same unseen test set and looked at a variety of metrics. True Positive Rate (which is recall or sensitivity) for both classes was particularly important – in plain terms, what fraction of “Yes” cases we caught and what fraction of “No” cases we correctly identified. We also kept an eye on precision and F1 to ensure the model wasn’t just guessing “Yes” for everything. ROC AUC gave us an overall sense of discrimination ability, and MCC and Kappa are helpful single-number summaries for imbalanced problems. We set minimum acceptable TPRs for both classes because, in a screening tool, you might say “we need to catch at least X% of children with difficulties and at least Y% of those without.” Any model that didn’t reach those bars was ruled out. For the ones that cleared the bar, we created a composite scoring system – essentially rewarding models for strong performance across metrics – and used that to rank them. Our final chosen model is the one with the top composite score while meeting all requirements.</a:t>
            </a:r>
          </a:p>
        </p:txBody>
      </p:sp>
      <p:sp>
        <p:nvSpPr>
          <p:cNvPr id="4" name="Slide Number Placeholder 3"/>
          <p:cNvSpPr>
            <a:spLocks noGrp="1"/>
          </p:cNvSpPr>
          <p:nvPr>
            <p:ph type="sldNum" sz="quarter" idx="5"/>
          </p:nvPr>
        </p:nvSpPr>
        <p:spPr/>
        <p:txBody>
          <a:bodyPr/>
          <a:lstStyle/>
          <a:p>
            <a:fld id="{7DECBDFB-B943-46A1-B173-B583C0896BCE}" type="slidenum">
              <a:rPr lang="en-US" smtClean="0"/>
              <a:t>10</a:t>
            </a:fld>
            <a:endParaRPr lang="en-US"/>
          </a:p>
        </p:txBody>
      </p:sp>
    </p:spTree>
    <p:extLst>
      <p:ext uri="{BB962C8B-B14F-4D97-AF65-F5344CB8AC3E}">
        <p14:creationId xmlns:p14="http://schemas.microsoft.com/office/powerpoint/2010/main" val="3805370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br>
              <a:rPr lang="en-US" dirty="0"/>
            </a:br>
            <a:r>
              <a:rPr lang="en-US" dirty="0"/>
              <a:t>Here we list the top four model configurations and some of their key numbers. The star of the show is the up-sampled </a:t>
            </a:r>
            <a:r>
              <a:rPr lang="en-US" dirty="0" err="1"/>
              <a:t>XGBoost</a:t>
            </a:r>
            <a:r>
              <a:rPr lang="en-US" dirty="0"/>
              <a:t> model – it identifies about 75–76% of the children with difficulties and correctly recognizes about 86% of those without, which is a very good trade-off for our purposes. Its ROC AUC of ~0.88 indicates strong overall discrimination, and the MCC of 0.47 shows a good balance considering the imbalance problem. Close on its heels was the down-sampled </a:t>
            </a:r>
            <a:r>
              <a:rPr lang="en-US" dirty="0" err="1"/>
              <a:t>XGBoost</a:t>
            </a:r>
            <a:r>
              <a:rPr lang="en-US" dirty="0"/>
              <a:t>. That one actually caught a bit more of the “Yes” cases (around 80% of them) but it was slightly less accurate on the “No” cases. The difference between these two is small; both are high-performing, but we favored the balance that the up-sampling approach gave us. We also show results for logistic regression with both up- and down-sampling. The logistic models did quite well for such a simple method – the down-sampled logistic just met the thresholds, and the up-sampled logistic traded some specificity for a bit more sensitivity. They serve as a strong baseline and validate that our data processing and resampling were effective, even for linear models. However, neither could match the boosted tree models in overall performance.</a:t>
            </a:r>
          </a:p>
        </p:txBody>
      </p:sp>
      <p:sp>
        <p:nvSpPr>
          <p:cNvPr id="4" name="Slide Number Placeholder 3"/>
          <p:cNvSpPr>
            <a:spLocks noGrp="1"/>
          </p:cNvSpPr>
          <p:nvPr>
            <p:ph type="sldNum" sz="quarter" idx="5"/>
          </p:nvPr>
        </p:nvSpPr>
        <p:spPr/>
        <p:txBody>
          <a:bodyPr/>
          <a:lstStyle/>
          <a:p>
            <a:fld id="{7DECBDFB-B943-46A1-B173-B583C0896BCE}" type="slidenum">
              <a:rPr lang="en-US" smtClean="0"/>
              <a:t>11</a:t>
            </a:fld>
            <a:endParaRPr lang="en-US"/>
          </a:p>
        </p:txBody>
      </p:sp>
    </p:spTree>
    <p:extLst>
      <p:ext uri="{BB962C8B-B14F-4D97-AF65-F5344CB8AC3E}">
        <p14:creationId xmlns:p14="http://schemas.microsoft.com/office/powerpoint/2010/main" val="2930442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br>
              <a:rPr lang="en-US" dirty="0"/>
            </a:br>
            <a:r>
              <a:rPr lang="en-US" dirty="0"/>
              <a:t>After identifying our top contenders, we put them through a more rigorous test: 10-fold cross-validation. Instead of relying only on the single train-test split, we effectively retrained and validated the models across 10 different splits to see if their performance holds up. The up-sampled </a:t>
            </a:r>
            <a:r>
              <a:rPr lang="en-US" dirty="0" err="1"/>
              <a:t>XGBoost</a:t>
            </a:r>
            <a:r>
              <a:rPr lang="en-US" dirty="0"/>
              <a:t> continued to shine – it consistently hit the required sensitivity levels fold after fold, which gave us confidence that its performance generalizes well and isn’t just a fluke on one split. The down-sampled </a:t>
            </a:r>
            <a:r>
              <a:rPr lang="en-US" dirty="0" err="1"/>
              <a:t>XGBoost</a:t>
            </a:r>
            <a:r>
              <a:rPr lang="en-US" dirty="0"/>
              <a:t> was not far behind at all; it did great in most folds, but we noticed its recall for the “Yes” class fluctuated a bit more between folds. This could be due to the random reduction of data each fold – sometimes you might drop informative examples in down-sampling.</a:t>
            </a:r>
          </a:p>
        </p:txBody>
      </p:sp>
      <p:sp>
        <p:nvSpPr>
          <p:cNvPr id="4" name="Slide Number Placeholder 3"/>
          <p:cNvSpPr>
            <a:spLocks noGrp="1"/>
          </p:cNvSpPr>
          <p:nvPr>
            <p:ph type="sldNum" sz="quarter" idx="5"/>
          </p:nvPr>
        </p:nvSpPr>
        <p:spPr/>
        <p:txBody>
          <a:bodyPr/>
          <a:lstStyle/>
          <a:p>
            <a:fld id="{7DECBDFB-B943-46A1-B173-B583C0896BCE}" type="slidenum">
              <a:rPr lang="en-US" smtClean="0"/>
              <a:t>12</a:t>
            </a:fld>
            <a:endParaRPr lang="en-US"/>
          </a:p>
        </p:txBody>
      </p:sp>
    </p:spTree>
    <p:extLst>
      <p:ext uri="{BB962C8B-B14F-4D97-AF65-F5344CB8AC3E}">
        <p14:creationId xmlns:p14="http://schemas.microsoft.com/office/powerpoint/2010/main" val="2717994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way to visualize our model’s performance is with the ROC curve – plotting the true positive rate against the false positive rate at various thresholds. For our final </a:t>
            </a:r>
            <a:r>
              <a:rPr lang="en-US" dirty="0" err="1"/>
              <a:t>XGBoost</a:t>
            </a:r>
            <a:r>
              <a:rPr lang="en-US" dirty="0"/>
              <a:t> model, the ROC curve is pretty far up towards the top-left corner, which is where you want to be. In plain terms, the model achieves a high sensitivity while keeping the false positive rate low. The area under this curve is around 0.88, which is considered quite high. This gives us confidence that the model is doing a good job distinguishing children who have learning difficulties from those who don’t, across the spectrum of possible threshold settings. Moreover, the shape of the curve is nice and smooth, without any weird dips – a sign that the model’s performance is consistent and not just due to overfitting some quirks in the data.</a:t>
            </a:r>
          </a:p>
        </p:txBody>
      </p:sp>
      <p:sp>
        <p:nvSpPr>
          <p:cNvPr id="4" name="Slide Number Placeholder 3"/>
          <p:cNvSpPr>
            <a:spLocks noGrp="1"/>
          </p:cNvSpPr>
          <p:nvPr>
            <p:ph type="sldNum" sz="quarter" idx="5"/>
          </p:nvPr>
        </p:nvSpPr>
        <p:spPr/>
        <p:txBody>
          <a:bodyPr/>
          <a:lstStyle/>
          <a:p>
            <a:fld id="{7DECBDFB-B943-46A1-B173-B583C0896BCE}" type="slidenum">
              <a:rPr lang="en-US" smtClean="0"/>
              <a:t>16</a:t>
            </a:fld>
            <a:endParaRPr lang="en-US"/>
          </a:p>
        </p:txBody>
      </p:sp>
    </p:spTree>
    <p:extLst>
      <p:ext uri="{BB962C8B-B14F-4D97-AF65-F5344CB8AC3E}">
        <p14:creationId xmlns:p14="http://schemas.microsoft.com/office/powerpoint/2010/main" val="139466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br>
              <a:rPr lang="en-US" dirty="0"/>
            </a:br>
            <a:r>
              <a:rPr lang="en-US" dirty="0"/>
              <a:t>We also wanted to peek under the hood of the model to see what factors it’s leveraging. </a:t>
            </a:r>
            <a:r>
              <a:rPr lang="en-US" dirty="0" err="1"/>
              <a:t>XGBoost</a:t>
            </a:r>
            <a:r>
              <a:rPr lang="en-US" dirty="0"/>
              <a:t> can give us an importance ranking of features. The features you see listed here came out on top. For example, </a:t>
            </a:r>
            <a:r>
              <a:rPr lang="en-US" sz="1200" kern="1200" dirty="0">
                <a:solidFill>
                  <a:schemeClr val="tx1"/>
                </a:solidFill>
                <a:latin typeface="+mn-lt"/>
                <a:ea typeface="+mn-ea"/>
                <a:cs typeface="+mn-cs"/>
              </a:rPr>
              <a:t>DISAB5_C</a:t>
            </a:r>
            <a:r>
              <a:rPr lang="en-US" dirty="0"/>
              <a:t> – without needing to know the exact survey code, we identified it corresponds to some disability status indicator. It’s logical that this is a top predictor: if a child is reported to have a certain disability, that likely correlates with learning difficulties. Similarly, </a:t>
            </a:r>
            <a:r>
              <a:rPr lang="en-US" sz="1200" kern="1200" dirty="0">
                <a:solidFill>
                  <a:schemeClr val="tx1"/>
                </a:solidFill>
                <a:latin typeface="+mn-lt"/>
                <a:ea typeface="+mn-ea"/>
                <a:cs typeface="+mn-cs"/>
              </a:rPr>
              <a:t>BEHDFCHG_C</a:t>
            </a:r>
            <a:r>
              <a:rPr lang="en-US" dirty="0"/>
              <a:t> refers to behavioral change difficulties, and </a:t>
            </a:r>
            <a:r>
              <a:rPr lang="en-US" sz="1200" kern="1200" dirty="0">
                <a:solidFill>
                  <a:schemeClr val="tx1"/>
                </a:solidFill>
                <a:latin typeface="+mn-lt"/>
                <a:ea typeface="+mn-ea"/>
                <a:cs typeface="+mn-cs"/>
              </a:rPr>
              <a:t>SCHSPEDEM_C</a:t>
            </a:r>
            <a:r>
              <a:rPr lang="en-US" dirty="0"/>
              <a:t> is about special education or medical needs at school – both very intuitively linked to learning challenges. We also saw features related to social behavior and speech clarity. The fact that these features are driving the model’s decisions is a good sanity check. It means the model is focusing on meaningful attributes that experts might also consider warning signs, rather than latching onto random noise or artifacts in the data. This gives us an extra layer of trust in the model’s outputs.</a:t>
            </a:r>
          </a:p>
        </p:txBody>
      </p:sp>
      <p:sp>
        <p:nvSpPr>
          <p:cNvPr id="4" name="Slide Number Placeholder 3"/>
          <p:cNvSpPr>
            <a:spLocks noGrp="1"/>
          </p:cNvSpPr>
          <p:nvPr>
            <p:ph type="sldNum" sz="quarter" idx="5"/>
          </p:nvPr>
        </p:nvSpPr>
        <p:spPr/>
        <p:txBody>
          <a:bodyPr/>
          <a:lstStyle/>
          <a:p>
            <a:fld id="{7DECBDFB-B943-46A1-B173-B583C0896BCE}" type="slidenum">
              <a:rPr lang="en-US" smtClean="0"/>
              <a:t>17</a:t>
            </a:fld>
            <a:endParaRPr lang="en-US"/>
          </a:p>
        </p:txBody>
      </p:sp>
    </p:spTree>
    <p:extLst>
      <p:ext uri="{BB962C8B-B14F-4D97-AF65-F5344CB8AC3E}">
        <p14:creationId xmlns:p14="http://schemas.microsoft.com/office/powerpoint/2010/main" val="1523235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compare all the algorithms we tried, some clear trends emerged. First and foremost, </a:t>
            </a:r>
            <a:r>
              <a:rPr lang="en-US" dirty="0" err="1"/>
              <a:t>XGBoost</a:t>
            </a:r>
            <a:r>
              <a:rPr lang="en-US" dirty="0"/>
              <a:t> was the top performer. No matter how we balanced the data, the </a:t>
            </a:r>
            <a:r>
              <a:rPr lang="en-US" dirty="0" err="1"/>
              <a:t>XGBoost</a:t>
            </a:r>
            <a:r>
              <a:rPr lang="en-US" dirty="0"/>
              <a:t> models tended to come out with the best metrics. This isn’t too surprising – boosting is a very powerful technique, and in this case it let us have our cake and eat it too: we got high sensitivity on the rare class while still keeping false positives in check. Next, we found that bagging and logistic regression were consistently in the upper tier of performance as well. Bagging (which is an ensemble of random trees) gave us a robust model that didn’t overfit easily; it’s a good method for variance reduction. Logistic regression, although simple, actually did quite well especially when we fed it balanced data. It’s a reminder that a well-prepared dataset can make even simple models effective. Random forest was decent, but interestingly it wasn’t as stable under certain sampling strategies – for example, in the </a:t>
            </a:r>
            <a:r>
              <a:rPr lang="en-US" dirty="0" err="1"/>
              <a:t>NearMiss</a:t>
            </a:r>
            <a:r>
              <a:rPr lang="en-US" dirty="0"/>
              <a:t> scenario, removing so many normal cases seems to have thrown it off a bit. SVM and our one-hidden-layer neural network both needed more minority examples to learn effectively, which is why they did better with up-sampling; however, they showed signs of overfitting if not carefully tuned, likely due to their flexibility. Finally, the algorithms that didn’t shine were Naïve Bayes and k-NN. With hundreds of features, Naïve Bayes’ assumption that everything is independent just doesn’t hold – many health and social variables in our data are correlated, and that method can’t handle that. k-NN suffered from the high dimensional space; distance-based methods can become unreliable when you have so many features, many of which may be irrelevant or noisy for the task.</a:t>
            </a:r>
          </a:p>
        </p:txBody>
      </p:sp>
      <p:sp>
        <p:nvSpPr>
          <p:cNvPr id="4" name="Slide Number Placeholder 3"/>
          <p:cNvSpPr>
            <a:spLocks noGrp="1"/>
          </p:cNvSpPr>
          <p:nvPr>
            <p:ph type="sldNum" sz="quarter" idx="5"/>
          </p:nvPr>
        </p:nvSpPr>
        <p:spPr/>
        <p:txBody>
          <a:bodyPr/>
          <a:lstStyle/>
          <a:p>
            <a:fld id="{7DECBDFB-B943-46A1-B173-B583C0896BCE}" type="slidenum">
              <a:rPr lang="en-US" smtClean="0"/>
              <a:t>18</a:t>
            </a:fld>
            <a:endParaRPr lang="en-US"/>
          </a:p>
        </p:txBody>
      </p:sp>
    </p:spTree>
    <p:extLst>
      <p:ext uri="{BB962C8B-B14F-4D97-AF65-F5344CB8AC3E}">
        <p14:creationId xmlns:p14="http://schemas.microsoft.com/office/powerpoint/2010/main" val="1429130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applied four different strategies to cope with class imbalance, and each influenced the model training in a distinct way. Down-sampling was a surprisingly effective blunt tool – by cutting down the majority class, we reduced noise and made the training task easier in some sense. Many models trained on down-sampled data did very well on the test set, likely because they weren’t overwhelmed by the abundance of “No” cases. Up-sampling, on the other hand, made sure models saw a lot of “Yes” cases. This was great for improving sensitivity – models simply had more opportunities during training to learn what a “Yes” looks like. The cost was that models might start seeing “Yes” everywhere, including where it’s not – hence more false positives. We certainly saw that pattern: recall went up, but precision and some overall metrics could dip. Interestingly, our best model is an up-sampled one, which goes to show that a strong algorithm like </a:t>
            </a:r>
            <a:r>
              <a:rPr lang="en-US" dirty="0" err="1"/>
              <a:t>XGBoost</a:t>
            </a:r>
            <a:r>
              <a:rPr lang="en-US" dirty="0"/>
              <a:t> can take advantage of those extra positives without overly freaking out about them – it kept false positives at a reasonable level. The synthetic oversampling method was a bit of a mixed bag. It gave us additional minority examples which in theory cover variations that weren’t present originally. This helped some models in terms of raw recall and even AUC. But we had to be careful – generating synthetic data can sometimes introduce unrealistic samples. If a model starts to fit to those, it might not perform as well on real data. Finally, </a:t>
            </a:r>
            <a:r>
              <a:rPr lang="en-US" dirty="0" err="1"/>
              <a:t>NearMiss</a:t>
            </a:r>
            <a:r>
              <a:rPr lang="en-US" dirty="0"/>
              <a:t> </a:t>
            </a:r>
            <a:r>
              <a:rPr lang="en-US" dirty="0" err="1"/>
              <a:t>undersampling</a:t>
            </a:r>
            <a:r>
              <a:rPr lang="en-US" dirty="0"/>
              <a:t> was like training with only the toughest negative examples. It really helped methods that look at local relationships (like k-NN or SVM), by making the class boundary very clear. But because we threw away a lot of “easy” majority examples, some models ended up not generalizing as well – they somewhat forgot what typical “No” cases look like. The bottom line is each strategy has pros and cons. In practice, you often have to try multiple approaches. For us, down-sampling and up-sampling were the standouts, and ultimately up-sampling combined with </a:t>
            </a:r>
            <a:r>
              <a:rPr lang="en-US" dirty="0" err="1"/>
              <a:t>XGBoost</a:t>
            </a:r>
            <a:r>
              <a:rPr lang="en-US" dirty="0"/>
              <a:t> gave the best result, showing that method-algorithm synergy is important.</a:t>
            </a:r>
          </a:p>
        </p:txBody>
      </p:sp>
      <p:sp>
        <p:nvSpPr>
          <p:cNvPr id="4" name="Slide Number Placeholder 3"/>
          <p:cNvSpPr>
            <a:spLocks noGrp="1"/>
          </p:cNvSpPr>
          <p:nvPr>
            <p:ph type="sldNum" sz="quarter" idx="5"/>
          </p:nvPr>
        </p:nvSpPr>
        <p:spPr/>
        <p:txBody>
          <a:bodyPr/>
          <a:lstStyle/>
          <a:p>
            <a:fld id="{7DECBDFB-B943-46A1-B173-B583C0896BCE}" type="slidenum">
              <a:rPr lang="en-US" smtClean="0"/>
              <a:t>19</a:t>
            </a:fld>
            <a:endParaRPr lang="en-US"/>
          </a:p>
        </p:txBody>
      </p:sp>
    </p:spTree>
    <p:extLst>
      <p:ext uri="{BB962C8B-B14F-4D97-AF65-F5344CB8AC3E}">
        <p14:creationId xmlns:p14="http://schemas.microsoft.com/office/powerpoint/2010/main" val="2007238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ECBDFB-B943-46A1-B173-B583C0896BCE}" type="slidenum">
              <a:rPr lang="en-US" smtClean="0"/>
              <a:t>20</a:t>
            </a:fld>
            <a:endParaRPr lang="en-US"/>
          </a:p>
        </p:txBody>
      </p:sp>
    </p:spTree>
    <p:extLst>
      <p:ext uri="{BB962C8B-B14F-4D97-AF65-F5344CB8AC3E}">
        <p14:creationId xmlns:p14="http://schemas.microsoft.com/office/powerpoint/2010/main" val="3655574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12/10/2025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12/10/2025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12/10/2025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12/10/2025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12/10/2025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12/10/2025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12/10/2025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12/10/2025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12/10/2025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12/10/2025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3273" y="24882"/>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070743" y="540313"/>
            <a:ext cx="3214307" cy="2901694"/>
          </a:xfrm>
        </p:spPr>
        <p:txBody>
          <a:bodyPr anchor="b">
            <a:normAutofit/>
          </a:bodyPr>
          <a:lstStyle/>
          <a:p>
            <a:r>
              <a:rPr lang="en-US" sz="2800" dirty="0">
                <a:solidFill>
                  <a:schemeClr val="tx1"/>
                </a:solidFill>
                <a:latin typeface="Times New Roman" panose="02020603050405020304" pitchFamily="18" charset="0"/>
                <a:cs typeface="Times New Roman" panose="02020603050405020304" pitchFamily="18" charset="0"/>
              </a:rPr>
              <a:t>Classification for Early Screening of Childhood Learning Difficulties (NHIS 2024)</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19083" y="3442007"/>
            <a:ext cx="3214307" cy="1940755"/>
          </a:xfrm>
        </p:spPr>
        <p:txBody>
          <a:bodyPr anchor="t">
            <a:normAutofit/>
          </a:bodyPr>
          <a:lstStyle/>
          <a:p>
            <a:pPr>
              <a:lnSpc>
                <a:spcPct val="100000"/>
              </a:lnSpc>
            </a:pPr>
            <a:r>
              <a:rPr lang="en-US" sz="1600" dirty="0"/>
              <a:t>METCS699 – Data Mining</a:t>
            </a:r>
          </a:p>
          <a:p>
            <a:pPr>
              <a:lnSpc>
                <a:spcPct val="100000"/>
              </a:lnSpc>
            </a:pPr>
            <a:r>
              <a:rPr lang="en-US" sz="1600" dirty="0"/>
              <a:t>Aryan Meena &amp; Aman Nishad</a:t>
            </a:r>
          </a:p>
          <a:p>
            <a:pPr>
              <a:lnSpc>
                <a:spcPct val="100000"/>
              </a:lnSpc>
            </a:pPr>
            <a:r>
              <a:rPr lang="en-US" sz="1600" dirty="0"/>
              <a:t>Dr. Jae Young LEE</a:t>
            </a:r>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62B74-3D71-A442-2C80-ED4118B2A580}"/>
              </a:ext>
            </a:extLst>
          </p:cNvPr>
          <p:cNvSpPr>
            <a:spLocks noGrp="1"/>
          </p:cNvSpPr>
          <p:nvPr>
            <p:ph type="title"/>
          </p:nvPr>
        </p:nvSpPr>
        <p:spPr/>
        <p:txBody>
          <a:bodyPr/>
          <a:lstStyle/>
          <a:p>
            <a:r>
              <a:rPr lang="en-US" dirty="0"/>
              <a:t>Introduction &amp; Problem Statement</a:t>
            </a:r>
          </a:p>
        </p:txBody>
      </p:sp>
      <p:sp>
        <p:nvSpPr>
          <p:cNvPr id="3" name="Content Placeholder 2">
            <a:extLst>
              <a:ext uri="{FF2B5EF4-FFF2-40B4-BE49-F238E27FC236}">
                <a16:creationId xmlns:a16="http://schemas.microsoft.com/office/drawing/2014/main" id="{ACAF10D0-E8AB-04E9-81E9-F34DC91A34DE}"/>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Develop an end-end classification pipeline for early screening of childhood learning difficulties using NHIS 2024 data.</a:t>
            </a:r>
          </a:p>
          <a:p>
            <a:r>
              <a:rPr lang="en-US" dirty="0">
                <a:latin typeface="Times New Roman" panose="02020603050405020304" pitchFamily="18" charset="0"/>
                <a:cs typeface="Times New Roman" panose="02020603050405020304" pitchFamily="18" charset="0"/>
              </a:rPr>
              <a:t>Challenges: High class imbalance – far fewer “Yes” cases than the “No” cases. </a:t>
            </a:r>
          </a:p>
          <a:p>
            <a:r>
              <a:rPr lang="en-US" dirty="0">
                <a:latin typeface="Times New Roman" panose="02020603050405020304" pitchFamily="18" charset="0"/>
                <a:cs typeface="Times New Roman" panose="02020603050405020304" pitchFamily="18" charset="0"/>
              </a:rPr>
              <a:t>Approach: Implement comprehensive preprocessing, multiple data balancing techniques and evaluate 9 different ML algorithms with different sampling method, which gives us 36 models to get the best performer. </a:t>
            </a:r>
          </a:p>
          <a:p>
            <a:r>
              <a:rPr lang="en-US" dirty="0">
                <a:latin typeface="Times New Roman" panose="02020603050405020304" pitchFamily="18" charset="0"/>
                <a:cs typeface="Times New Roman" panose="02020603050405020304" pitchFamily="18" charset="0"/>
              </a:rPr>
              <a:t>Outcome: Found a top model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upsampling</a:t>
            </a:r>
            <a:r>
              <a:rPr lang="en-US" dirty="0">
                <a:latin typeface="Times New Roman" panose="02020603050405020304" pitchFamily="18" charset="0"/>
                <a:cs typeface="Times New Roman" panose="02020603050405020304" pitchFamily="18" charset="0"/>
              </a:rPr>
              <a:t> that exceeded the required TPR thresholds and achieved strong overall accuracy. </a:t>
            </a:r>
          </a:p>
        </p:txBody>
      </p:sp>
    </p:spTree>
    <p:extLst>
      <p:ext uri="{BB962C8B-B14F-4D97-AF65-F5344CB8AC3E}">
        <p14:creationId xmlns:p14="http://schemas.microsoft.com/office/powerpoint/2010/main" val="1017254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CA25E-32CF-FD15-5648-F8C995350931}"/>
              </a:ext>
            </a:extLst>
          </p:cNvPr>
          <p:cNvSpPr>
            <a:spLocks noGrp="1"/>
          </p:cNvSpPr>
          <p:nvPr>
            <p:ph type="title"/>
          </p:nvPr>
        </p:nvSpPr>
        <p:spPr/>
        <p:txBody>
          <a:bodyPr/>
          <a:lstStyle/>
          <a:p>
            <a:r>
              <a:rPr lang="en-US" dirty="0"/>
              <a:t>Dataset Overview</a:t>
            </a:r>
          </a:p>
        </p:txBody>
      </p:sp>
      <p:sp>
        <p:nvSpPr>
          <p:cNvPr id="3" name="Content Placeholder 2">
            <a:extLst>
              <a:ext uri="{FF2B5EF4-FFF2-40B4-BE49-F238E27FC236}">
                <a16:creationId xmlns:a16="http://schemas.microsoft.com/office/drawing/2014/main" id="{49B1E913-69D4-2395-DCB9-14E4883D9C31}"/>
              </a:ext>
            </a:extLst>
          </p:cNvPr>
          <p:cNvSpPr>
            <a:spLocks noGrp="1"/>
          </p:cNvSpPr>
          <p:nvPr>
            <p:ph idx="1"/>
          </p:nvPr>
        </p:nvSpPr>
        <p:spPr>
          <a:xfrm>
            <a:off x="1097280" y="2108201"/>
            <a:ext cx="6127683" cy="3221787"/>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Data Source: 2024 National Health Interview Survey. A nationwide survey capturing children’s health, behavior and family context.</a:t>
            </a:r>
          </a:p>
          <a:p>
            <a:r>
              <a:rPr lang="en-US" dirty="0">
                <a:latin typeface="Times New Roman" panose="02020603050405020304" pitchFamily="18" charset="0"/>
                <a:cs typeface="Times New Roman" panose="02020603050405020304" pitchFamily="18" charset="0"/>
              </a:rPr>
              <a:t>Dataset size: 7,439 children with 353 variables each. Ages range from 0-17 years.</a:t>
            </a:r>
          </a:p>
          <a:p>
            <a:r>
              <a:rPr lang="en-US" dirty="0">
                <a:latin typeface="Times New Roman" panose="02020603050405020304" pitchFamily="18" charset="0"/>
                <a:cs typeface="Times New Roman" panose="02020603050405020304" pitchFamily="18" charset="0"/>
              </a:rPr>
              <a:t>Target Variable: Class = “Yes” (child has a learning difficulty) or “No” (no learning difficulty). Only a minority of children have learning difficulties which shows class imbalance. </a:t>
            </a:r>
          </a:p>
          <a:p>
            <a:r>
              <a:rPr lang="en-US" dirty="0">
                <a:latin typeface="Times New Roman" panose="02020603050405020304" pitchFamily="18" charset="0"/>
                <a:cs typeface="Times New Roman" panose="02020603050405020304" pitchFamily="18" charset="0"/>
              </a:rPr>
              <a:t>Feature Domains: Includes demographics(Age, sex, region), family structure, socioeconomics, physical health, developmental disorders (e.g., ADHD, autism) and behavioral context. </a:t>
            </a:r>
          </a:p>
        </p:txBody>
      </p:sp>
      <p:pic>
        <p:nvPicPr>
          <p:cNvPr id="4" name="Picture 3">
            <a:extLst>
              <a:ext uri="{FF2B5EF4-FFF2-40B4-BE49-F238E27FC236}">
                <a16:creationId xmlns:a16="http://schemas.microsoft.com/office/drawing/2014/main" id="{002917F0-7B0A-E6F1-4193-E92573AA3B7B}"/>
              </a:ext>
            </a:extLst>
          </p:cNvPr>
          <p:cNvPicPr>
            <a:picLocks noChangeAspect="1"/>
          </p:cNvPicPr>
          <p:nvPr/>
        </p:nvPicPr>
        <p:blipFill>
          <a:blip r:embed="rId2"/>
          <a:stretch>
            <a:fillRect/>
          </a:stretch>
        </p:blipFill>
        <p:spPr>
          <a:xfrm>
            <a:off x="7664038" y="2267946"/>
            <a:ext cx="3159745" cy="2633023"/>
          </a:xfrm>
          <a:prstGeom prst="rect">
            <a:avLst/>
          </a:prstGeom>
        </p:spPr>
      </p:pic>
    </p:spTree>
    <p:extLst>
      <p:ext uri="{BB962C8B-B14F-4D97-AF65-F5344CB8AC3E}">
        <p14:creationId xmlns:p14="http://schemas.microsoft.com/office/powerpoint/2010/main" val="1351973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DF11B-B7F1-05FF-8444-C1119AE1E8BC}"/>
              </a:ext>
            </a:extLst>
          </p:cNvPr>
          <p:cNvSpPr>
            <a:spLocks noGrp="1"/>
          </p:cNvSpPr>
          <p:nvPr>
            <p:ph type="title"/>
          </p:nvPr>
        </p:nvSpPr>
        <p:spPr/>
        <p:txBody>
          <a:bodyPr/>
          <a:lstStyle/>
          <a:p>
            <a:r>
              <a:rPr lang="en-US" dirty="0"/>
              <a:t>Data Characteristics &amp; Key Distributions</a:t>
            </a:r>
          </a:p>
        </p:txBody>
      </p:sp>
      <p:sp>
        <p:nvSpPr>
          <p:cNvPr id="3" name="Content Placeholder 2">
            <a:extLst>
              <a:ext uri="{FF2B5EF4-FFF2-40B4-BE49-F238E27FC236}">
                <a16:creationId xmlns:a16="http://schemas.microsoft.com/office/drawing/2014/main" id="{1E571325-7722-7E15-46EC-DFAC8D00DBD7}"/>
              </a:ext>
            </a:extLst>
          </p:cNvPr>
          <p:cNvSpPr>
            <a:spLocks noGrp="1"/>
          </p:cNvSpPr>
          <p:nvPr>
            <p:ph idx="1"/>
          </p:nvPr>
        </p:nvSpPr>
        <p:spPr>
          <a:xfrm>
            <a:off x="1097280" y="2108201"/>
            <a:ext cx="6016039" cy="3960090"/>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Class Imbalance Impact: The imbalance can bias models to predict the majority class. We address this latest via re-sampling techniques. </a:t>
            </a:r>
          </a:p>
          <a:p>
            <a:r>
              <a:rPr lang="en-US" dirty="0">
                <a:latin typeface="Times New Roman" panose="02020603050405020304" pitchFamily="18" charset="0"/>
                <a:cs typeface="Times New Roman" panose="02020603050405020304" pitchFamily="18" charset="0"/>
              </a:rPr>
              <a:t>Feature Distribution Differences: Certain numeric traits show different distributions between classes (Yes vs No). </a:t>
            </a:r>
          </a:p>
          <a:p>
            <a:r>
              <a:rPr lang="en-US" dirty="0">
                <a:latin typeface="Times New Roman" panose="02020603050405020304" pitchFamily="18" charset="0"/>
                <a:cs typeface="Times New Roman" panose="02020603050405020304" pitchFamily="18" charset="0"/>
              </a:rPr>
              <a:t>Holistic Features: Many variables are categorical (e.g. diagnoses present or not) and some numeric (e.g. BMI). We looked at distributions to ensure no obvious data issues and to do feature engineering. </a:t>
            </a:r>
          </a:p>
          <a:p>
            <a:r>
              <a:rPr lang="en-US" dirty="0">
                <a:latin typeface="Times New Roman" panose="02020603050405020304" pitchFamily="18" charset="0"/>
                <a:cs typeface="Times New Roman" panose="02020603050405020304" pitchFamily="18" charset="0"/>
              </a:rPr>
              <a:t>The data is high-dimensional and varied, requiring robust preprocessing to handle missing values and to ensure features are on comparable scale before modeling. </a:t>
            </a:r>
          </a:p>
        </p:txBody>
      </p:sp>
      <p:pic>
        <p:nvPicPr>
          <p:cNvPr id="4" name="Picture 3">
            <a:extLst>
              <a:ext uri="{FF2B5EF4-FFF2-40B4-BE49-F238E27FC236}">
                <a16:creationId xmlns:a16="http://schemas.microsoft.com/office/drawing/2014/main" id="{D4A26C72-75A8-FA00-4833-B6BD2B1154E8}"/>
              </a:ext>
            </a:extLst>
          </p:cNvPr>
          <p:cNvPicPr>
            <a:picLocks noChangeAspect="1"/>
          </p:cNvPicPr>
          <p:nvPr/>
        </p:nvPicPr>
        <p:blipFill>
          <a:blip r:embed="rId2"/>
          <a:stretch>
            <a:fillRect/>
          </a:stretch>
        </p:blipFill>
        <p:spPr>
          <a:xfrm>
            <a:off x="7402454" y="2340408"/>
            <a:ext cx="3039745" cy="3495675"/>
          </a:xfrm>
          <a:prstGeom prst="rect">
            <a:avLst/>
          </a:prstGeom>
        </p:spPr>
      </p:pic>
    </p:spTree>
    <p:extLst>
      <p:ext uri="{BB962C8B-B14F-4D97-AF65-F5344CB8AC3E}">
        <p14:creationId xmlns:p14="http://schemas.microsoft.com/office/powerpoint/2010/main" val="2628708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1490-A193-B029-CA6E-1D687C682AC2}"/>
              </a:ext>
            </a:extLst>
          </p:cNvPr>
          <p:cNvSpPr>
            <a:spLocks noGrp="1"/>
          </p:cNvSpPr>
          <p:nvPr>
            <p:ph type="title"/>
          </p:nvPr>
        </p:nvSpPr>
        <p:spPr/>
        <p:txBody>
          <a:bodyPr/>
          <a:lstStyle/>
          <a:p>
            <a:r>
              <a:rPr lang="en-US" dirty="0"/>
              <a:t>Preprocessing – Cleaning &amp; Filtering</a:t>
            </a:r>
          </a:p>
        </p:txBody>
      </p:sp>
      <p:sp>
        <p:nvSpPr>
          <p:cNvPr id="3" name="Content Placeholder 2">
            <a:extLst>
              <a:ext uri="{FF2B5EF4-FFF2-40B4-BE49-F238E27FC236}">
                <a16:creationId xmlns:a16="http://schemas.microsoft.com/office/drawing/2014/main" id="{5036F01D-5E96-5682-4029-06A00C6D8F43}"/>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Missing Data Encoding: First, we standardized all missing value codes in the raw data (blank entries, “NA”, special codes like 7/8/9) into true NA values. This ensured consistency before imputation.</a:t>
            </a:r>
          </a:p>
          <a:p>
            <a:r>
              <a:rPr lang="en-US" dirty="0">
                <a:latin typeface="Times New Roman" panose="02020603050405020304" pitchFamily="18" charset="0"/>
                <a:cs typeface="Times New Roman" panose="02020603050405020304" pitchFamily="18" charset="0"/>
              </a:rPr>
              <a:t>High-Missingness Drop: We removed any features with &gt;= 90% missing data. (For e.g. 11 survey variables were entirely blank for all 7,439 records and were dropped). This avoids unreliable imputations and reduces noise. </a:t>
            </a:r>
          </a:p>
          <a:p>
            <a:r>
              <a:rPr lang="en-US" dirty="0">
                <a:latin typeface="Times New Roman" panose="02020603050405020304" pitchFamily="18" charset="0"/>
                <a:cs typeface="Times New Roman" panose="02020603050405020304" pitchFamily="18" charset="0"/>
              </a:rPr>
              <a:t>Near-Zero Variance Removal: Using caret’s nearZeroVar, we dropped features that had almost no variance or extremely imbalanced distributions. These quasi-constant features carry little information and cause issues in modeling. </a:t>
            </a:r>
          </a:p>
          <a:p>
            <a:endParaRPr lang="en-US" dirty="0"/>
          </a:p>
        </p:txBody>
      </p:sp>
    </p:spTree>
    <p:extLst>
      <p:ext uri="{BB962C8B-B14F-4D97-AF65-F5344CB8AC3E}">
        <p14:creationId xmlns:p14="http://schemas.microsoft.com/office/powerpoint/2010/main" val="510799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B798F-37FC-3139-A456-AA15C7844522}"/>
              </a:ext>
            </a:extLst>
          </p:cNvPr>
          <p:cNvSpPr>
            <a:spLocks noGrp="1"/>
          </p:cNvSpPr>
          <p:nvPr>
            <p:ph type="title"/>
          </p:nvPr>
        </p:nvSpPr>
        <p:spPr/>
        <p:txBody>
          <a:bodyPr/>
          <a:lstStyle/>
          <a:p>
            <a:r>
              <a:rPr lang="en-US" dirty="0"/>
              <a:t>Preprocessing – Imputation &amp; Transformation</a:t>
            </a:r>
          </a:p>
        </p:txBody>
      </p:sp>
      <p:sp>
        <p:nvSpPr>
          <p:cNvPr id="3" name="Content Placeholder 2">
            <a:extLst>
              <a:ext uri="{FF2B5EF4-FFF2-40B4-BE49-F238E27FC236}">
                <a16:creationId xmlns:a16="http://schemas.microsoft.com/office/drawing/2014/main" id="{B84D7403-BF17-8BA1-8CEB-8B131D5776AD}"/>
              </a:ext>
            </a:extLst>
          </p:cNvPr>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Imputation: For remaining missing values, we imputed numerical features with the median and categorical features with the mode on training set. This simple strategy avoids data loss and prevents leaking information from the test set.</a:t>
            </a:r>
          </a:p>
          <a:p>
            <a:r>
              <a:rPr lang="en-US" dirty="0">
                <a:latin typeface="Times New Roman" panose="02020603050405020304" pitchFamily="18" charset="0"/>
                <a:cs typeface="Times New Roman" panose="02020603050405020304" pitchFamily="18" charset="0"/>
              </a:rPr>
              <a:t>Winsorization: We capped extreme outliers by winsorizing numeric features at the 1</a:t>
            </a:r>
            <a:r>
              <a:rPr lang="en-US" baseline="30000" dirty="0">
                <a:latin typeface="Times New Roman" panose="02020603050405020304" pitchFamily="18" charset="0"/>
                <a:cs typeface="Times New Roman" panose="02020603050405020304" pitchFamily="18" charset="0"/>
              </a:rPr>
              <a:t>st</a:t>
            </a:r>
            <a:r>
              <a:rPr lang="en-US" dirty="0">
                <a:latin typeface="Times New Roman" panose="02020603050405020304" pitchFamily="18" charset="0"/>
                <a:cs typeface="Times New Roman" panose="02020603050405020304" pitchFamily="18" charset="0"/>
              </a:rPr>
              <a:t> and 99</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percentiles. Rather than removing outliers, this brings them to a reasonable range, reducing undue influence while keeping all data.</a:t>
            </a:r>
          </a:p>
          <a:p>
            <a:r>
              <a:rPr lang="en-US" dirty="0">
                <a:latin typeface="Times New Roman" panose="02020603050405020304" pitchFamily="18" charset="0"/>
                <a:cs typeface="Times New Roman" panose="02020603050405020304" pitchFamily="18" charset="0"/>
              </a:rPr>
              <a:t>ID/Unique Feature Removal: We dropped any ID-like fields and columns with &gt;90% unique values. </a:t>
            </a:r>
          </a:p>
          <a:p>
            <a:r>
              <a:rPr lang="en-US" dirty="0">
                <a:latin typeface="Times New Roman" panose="02020603050405020304" pitchFamily="18" charset="0"/>
                <a:cs typeface="Times New Roman" panose="02020603050405020304" pitchFamily="18" charset="0"/>
              </a:rPr>
              <a:t>Correlation Pruning: Highly correlated features(Pearson r &gt;= 0.80) among numeric were pruned to remove redundancy.</a:t>
            </a:r>
          </a:p>
          <a:p>
            <a:r>
              <a:rPr lang="en-US" dirty="0">
                <a:latin typeface="Times New Roman" panose="02020603050405020304" pitchFamily="18" charset="0"/>
                <a:cs typeface="Times New Roman" panose="02020603050405020304" pitchFamily="18" charset="0"/>
              </a:rPr>
              <a:t>At the end we were left with 148 variables and then the </a:t>
            </a:r>
            <a:r>
              <a:rPr lang="en-US" dirty="0" err="1">
                <a:latin typeface="Times New Roman" panose="02020603050405020304" pitchFamily="18" charset="0"/>
                <a:cs typeface="Times New Roman" panose="02020603050405020304" pitchFamily="18" charset="0"/>
              </a:rPr>
              <a:t>ZeroVar</a:t>
            </a:r>
            <a:r>
              <a:rPr lang="en-US" dirty="0">
                <a:latin typeface="Times New Roman" panose="02020603050405020304" pitchFamily="18" charset="0"/>
                <a:cs typeface="Times New Roman" panose="02020603050405020304" pitchFamily="18" charset="0"/>
              </a:rPr>
              <a:t>  function left us with 147 by removing one more feature.</a:t>
            </a:r>
          </a:p>
          <a:p>
            <a:endParaRPr lang="en-US" dirty="0"/>
          </a:p>
        </p:txBody>
      </p:sp>
    </p:spTree>
    <p:extLst>
      <p:ext uri="{BB962C8B-B14F-4D97-AF65-F5344CB8AC3E}">
        <p14:creationId xmlns:p14="http://schemas.microsoft.com/office/powerpoint/2010/main" val="3261259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72E68-06DA-F2AC-9ADD-ED84139E3C56}"/>
              </a:ext>
            </a:extLst>
          </p:cNvPr>
          <p:cNvSpPr>
            <a:spLocks noGrp="1"/>
          </p:cNvSpPr>
          <p:nvPr>
            <p:ph type="title"/>
          </p:nvPr>
        </p:nvSpPr>
        <p:spPr/>
        <p:txBody>
          <a:bodyPr/>
          <a:lstStyle/>
          <a:p>
            <a:r>
              <a:rPr lang="en-US" dirty="0"/>
              <a:t>Train/Test Split &amp; Data Preparation</a:t>
            </a:r>
          </a:p>
        </p:txBody>
      </p:sp>
      <p:sp>
        <p:nvSpPr>
          <p:cNvPr id="3" name="Content Placeholder 2">
            <a:extLst>
              <a:ext uri="{FF2B5EF4-FFF2-40B4-BE49-F238E27FC236}">
                <a16:creationId xmlns:a16="http://schemas.microsoft.com/office/drawing/2014/main" id="{CEAE6F7D-5CF2-7ECB-A5C3-4F1ADE5C3CC9}"/>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Stratified Split: We partitioned the data into 80% training and 20% testing, stratified by the target class. This helps in preserving the imbalance proportion.</a:t>
            </a:r>
          </a:p>
          <a:p>
            <a:r>
              <a:rPr lang="en-US" dirty="0">
                <a:latin typeface="Times New Roman" panose="02020603050405020304" pitchFamily="18" charset="0"/>
                <a:cs typeface="Times New Roman" panose="02020603050405020304" pitchFamily="18" charset="0"/>
              </a:rPr>
              <a:t>No Leakage: All preprocessing steps were fit on the training set only. The test set was strictly held out until final evaluation.</a:t>
            </a:r>
          </a:p>
          <a:p>
            <a:r>
              <a:rPr lang="en-US" dirty="0">
                <a:latin typeface="Times New Roman" panose="02020603050405020304" pitchFamily="18" charset="0"/>
                <a:cs typeface="Times New Roman" panose="02020603050405020304" pitchFamily="18" charset="0"/>
              </a:rPr>
              <a:t>Rare Category Consolidation: For categorical variables, any factor level with &lt;10 samples in the training set was combined into an “Other” category. This prevents tiny categories from causing overfitting or errors.</a:t>
            </a:r>
          </a:p>
          <a:p>
            <a:r>
              <a:rPr lang="en-US" dirty="0">
                <a:latin typeface="Times New Roman" panose="02020603050405020304" pitchFamily="18" charset="0"/>
                <a:cs typeface="Times New Roman" panose="02020603050405020304" pitchFamily="18" charset="0"/>
              </a:rPr>
              <a:t>Feature Scaling: We standardized numerical features by centering and scaling (z-scores).</a:t>
            </a:r>
          </a:p>
          <a:p>
            <a:r>
              <a:rPr lang="en-US" dirty="0">
                <a:latin typeface="Times New Roman" panose="02020603050405020304" pitchFamily="18" charset="0"/>
                <a:cs typeface="Times New Roman" panose="02020603050405020304" pitchFamily="18" charset="0"/>
              </a:rPr>
              <a:t>Reproducibility: We set random seeds and saved the split data to ensure results can be reproduced exactly. </a:t>
            </a:r>
          </a:p>
          <a:p>
            <a:endParaRPr lang="en-US" dirty="0"/>
          </a:p>
        </p:txBody>
      </p:sp>
    </p:spTree>
    <p:extLst>
      <p:ext uri="{BB962C8B-B14F-4D97-AF65-F5344CB8AC3E}">
        <p14:creationId xmlns:p14="http://schemas.microsoft.com/office/powerpoint/2010/main" val="293266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968EE-0C81-4841-2D17-636B28476518}"/>
              </a:ext>
            </a:extLst>
          </p:cNvPr>
          <p:cNvSpPr>
            <a:spLocks noGrp="1"/>
          </p:cNvSpPr>
          <p:nvPr>
            <p:ph type="title"/>
          </p:nvPr>
        </p:nvSpPr>
        <p:spPr/>
        <p:txBody>
          <a:bodyPr/>
          <a:lstStyle/>
          <a:p>
            <a:r>
              <a:rPr lang="en-US" dirty="0"/>
              <a:t>Addressing Class Imbalance – Four Balancing Strategies</a:t>
            </a:r>
          </a:p>
        </p:txBody>
      </p:sp>
      <p:sp>
        <p:nvSpPr>
          <p:cNvPr id="3" name="Content Placeholder 2">
            <a:extLst>
              <a:ext uri="{FF2B5EF4-FFF2-40B4-BE49-F238E27FC236}">
                <a16:creationId xmlns:a16="http://schemas.microsoft.com/office/drawing/2014/main" id="{D48F50B5-00A7-C48D-9B8D-FE66F037ECB8}"/>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Need for Balancing: In the training data, “No” cases vastly outnumber “Yes” cases. This skew can cause models to perform poorly on the minority class, so we created balanced training sets using four methods.</a:t>
            </a:r>
          </a:p>
          <a:p>
            <a:r>
              <a:rPr lang="en-US" dirty="0">
                <a:latin typeface="Times New Roman" panose="02020603050405020304" pitchFamily="18" charset="0"/>
                <a:cs typeface="Times New Roman" panose="02020603050405020304" pitchFamily="18" charset="0"/>
              </a:rPr>
              <a:t>Down-Sampling: Randomly remove majority-class(No) samples until the classes are equal. </a:t>
            </a:r>
          </a:p>
          <a:p>
            <a:r>
              <a:rPr lang="en-US" dirty="0">
                <a:latin typeface="Times New Roman" panose="02020603050405020304" pitchFamily="18" charset="0"/>
                <a:cs typeface="Times New Roman" panose="02020603050405020304" pitchFamily="18" charset="0"/>
              </a:rPr>
              <a:t>Up-Sampling: Randomly duplicate minority-class samples until classes equal. </a:t>
            </a:r>
          </a:p>
          <a:p>
            <a:r>
              <a:rPr lang="en-US" dirty="0">
                <a:latin typeface="Times New Roman" panose="02020603050405020304" pitchFamily="18" charset="0"/>
                <a:cs typeface="Times New Roman" panose="02020603050405020304" pitchFamily="18" charset="0"/>
              </a:rPr>
              <a:t>Synthetic Oversampling: Generate new minority samples by adding slight noise to existing ones (a custom SMOTE-like jitter).</a:t>
            </a:r>
          </a:p>
          <a:p>
            <a:r>
              <a:rPr lang="en-US" dirty="0">
                <a:latin typeface="Times New Roman" panose="02020603050405020304" pitchFamily="18" charset="0"/>
                <a:cs typeface="Times New Roman" panose="02020603050405020304" pitchFamily="18" charset="0"/>
              </a:rPr>
              <a:t>NearMiss-1 Undersampling: Select a subset of majority class examples that are closest to minority class examples in feature space.  </a:t>
            </a:r>
          </a:p>
        </p:txBody>
      </p:sp>
    </p:spTree>
    <p:extLst>
      <p:ext uri="{BB962C8B-B14F-4D97-AF65-F5344CB8AC3E}">
        <p14:creationId xmlns:p14="http://schemas.microsoft.com/office/powerpoint/2010/main" val="2188404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3065D-57D9-E1AD-843D-D800CB83EE4B}"/>
              </a:ext>
            </a:extLst>
          </p:cNvPr>
          <p:cNvSpPr>
            <a:spLocks noGrp="1"/>
          </p:cNvSpPr>
          <p:nvPr>
            <p:ph type="title"/>
          </p:nvPr>
        </p:nvSpPr>
        <p:spPr/>
        <p:txBody>
          <a:bodyPr>
            <a:normAutofit/>
          </a:bodyPr>
          <a:lstStyle/>
          <a:p>
            <a:r>
              <a:rPr lang="en-US" dirty="0"/>
              <a:t>Modeling Approach – Algorithms and Training </a:t>
            </a:r>
          </a:p>
        </p:txBody>
      </p:sp>
      <p:sp>
        <p:nvSpPr>
          <p:cNvPr id="3" name="Content Placeholder 2">
            <a:extLst>
              <a:ext uri="{FF2B5EF4-FFF2-40B4-BE49-F238E27FC236}">
                <a16:creationId xmlns:a16="http://schemas.microsoft.com/office/drawing/2014/main" id="{E6E4C190-48D2-AD3B-2208-82E0BD78C2AB}"/>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We trained log regression, decision tree, random forest,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bagging, naïve bayes, k-nearest neighbors, support vector machine, multi layer perceptron(single hidden layer).</a:t>
            </a:r>
          </a:p>
          <a:p>
            <a:r>
              <a:rPr lang="en-US" dirty="0">
                <a:latin typeface="Times New Roman" panose="02020603050405020304" pitchFamily="18" charset="0"/>
                <a:cs typeface="Times New Roman" panose="02020603050405020304" pitchFamily="18" charset="0"/>
              </a:rPr>
              <a:t>Each algorithm was trained using 3-fold cross validation and 10-fold cross validation on the training set, we used grid search for key hyperparameters.</a:t>
            </a:r>
          </a:p>
          <a:p>
            <a:r>
              <a:rPr lang="en-US" dirty="0">
                <a:latin typeface="Times New Roman" panose="02020603050405020304" pitchFamily="18" charset="0"/>
                <a:cs typeface="Times New Roman" panose="02020603050405020304" pitchFamily="18" charset="0"/>
              </a:rPr>
              <a:t>We trained all 36 models separately and also; we fixed random seeds and frozen CV splits so that the training is reproducible. </a:t>
            </a:r>
          </a:p>
        </p:txBody>
      </p:sp>
    </p:spTree>
    <p:extLst>
      <p:ext uri="{BB962C8B-B14F-4D97-AF65-F5344CB8AC3E}">
        <p14:creationId xmlns:p14="http://schemas.microsoft.com/office/powerpoint/2010/main" val="2585720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0AC9B-B0A8-D6ED-C69D-246779676325}"/>
              </a:ext>
            </a:extLst>
          </p:cNvPr>
          <p:cNvSpPr>
            <a:spLocks noGrp="1"/>
          </p:cNvSpPr>
          <p:nvPr>
            <p:ph type="title"/>
          </p:nvPr>
        </p:nvSpPr>
        <p:spPr/>
        <p:txBody>
          <a:bodyPr/>
          <a:lstStyle/>
          <a:p>
            <a:r>
              <a:rPr lang="en-US" dirty="0"/>
              <a:t>Evaluation Metrics &amp; Model Selection Criteria</a:t>
            </a:r>
          </a:p>
        </p:txBody>
      </p:sp>
      <p:sp>
        <p:nvSpPr>
          <p:cNvPr id="3" name="Content Placeholder 2">
            <a:extLst>
              <a:ext uri="{FF2B5EF4-FFF2-40B4-BE49-F238E27FC236}">
                <a16:creationId xmlns:a16="http://schemas.microsoft.com/office/drawing/2014/main" id="{1752AEE1-1F20-DD63-EC5D-A85446EBD08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Evaluation Procedure: After training, we evaluated each model on the untouched 20% test set, using a fixed probability threshold of 0.5 for classification.</a:t>
            </a:r>
          </a:p>
          <a:p>
            <a:r>
              <a:rPr lang="en-US" dirty="0">
                <a:latin typeface="Times New Roman" panose="02020603050405020304" pitchFamily="18" charset="0"/>
                <a:cs typeface="Times New Roman" panose="02020603050405020304" pitchFamily="18" charset="0"/>
              </a:rPr>
              <a:t>Metrics: For each model, we calculated TPR, FPR, precision, F1-score, ROC, AUC, MCC and kappa. Confusion matrices were also recorded. </a:t>
            </a:r>
          </a:p>
          <a:p>
            <a:r>
              <a:rPr lang="en-US" dirty="0">
                <a:latin typeface="Times New Roman" panose="02020603050405020304" pitchFamily="18" charset="0"/>
                <a:cs typeface="Times New Roman" panose="02020603050405020304" pitchFamily="18" charset="0"/>
              </a:rPr>
              <a:t>To select the best model, we designed a composite scoring system. This score incorporated whether models met the TPR minima and combined the two class</a:t>
            </a:r>
          </a:p>
          <a:p>
            <a:r>
              <a:rPr lang="en-US" dirty="0">
                <a:latin typeface="Times New Roman" panose="02020603050405020304" pitchFamily="18" charset="0"/>
                <a:cs typeface="Times New Roman" panose="02020603050405020304" pitchFamily="18" charset="0"/>
              </a:rPr>
              <a:t>Best models were then ranked by the composite score and the top performer which meets the TPR thresholds was chosen as our final model, we then analyzed that model in depth. </a:t>
            </a:r>
          </a:p>
          <a:p>
            <a:pPr marL="0" indent="0">
              <a:buNone/>
            </a:pPr>
            <a:endParaRPr lang="en-US" dirty="0"/>
          </a:p>
        </p:txBody>
      </p:sp>
    </p:spTree>
    <p:extLst>
      <p:ext uri="{BB962C8B-B14F-4D97-AF65-F5344CB8AC3E}">
        <p14:creationId xmlns:p14="http://schemas.microsoft.com/office/powerpoint/2010/main" val="1841501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3DE95-0238-C05F-9D63-4C9694F00332}"/>
              </a:ext>
            </a:extLst>
          </p:cNvPr>
          <p:cNvSpPr>
            <a:spLocks noGrp="1"/>
          </p:cNvSpPr>
          <p:nvPr>
            <p:ph type="title"/>
          </p:nvPr>
        </p:nvSpPr>
        <p:spPr/>
        <p:txBody>
          <a:bodyPr/>
          <a:lstStyle/>
          <a:p>
            <a:r>
              <a:rPr lang="en-US" dirty="0"/>
              <a:t>Top Models</a:t>
            </a:r>
          </a:p>
        </p:txBody>
      </p:sp>
      <p:sp>
        <p:nvSpPr>
          <p:cNvPr id="3" name="Content Placeholder 2">
            <a:extLst>
              <a:ext uri="{FF2B5EF4-FFF2-40B4-BE49-F238E27FC236}">
                <a16:creationId xmlns:a16="http://schemas.microsoft.com/office/drawing/2014/main" id="{B4208481-147E-B793-12F1-02187C164FE1}"/>
              </a:ext>
            </a:extLst>
          </p:cNvPr>
          <p:cNvSpPr>
            <a:spLocks noGrp="1"/>
          </p:cNvSpPr>
          <p:nvPr>
            <p:ph idx="1"/>
          </p:nvPr>
        </p:nvSpPr>
        <p:spPr>
          <a:xfrm>
            <a:off x="1097280" y="2108201"/>
            <a:ext cx="6370320" cy="3933370"/>
          </a:xfrm>
        </p:spPr>
        <p:txBody>
          <a:bodyPr>
            <a:normAutofit fontScale="92500" lnSpcReduction="20000"/>
          </a:bodyPr>
          <a:lstStyle/>
          <a:p>
            <a:pPr marL="0" indent="0">
              <a:spcAft>
                <a:spcPts val="100"/>
              </a:spcAft>
              <a:buNone/>
            </a:pPr>
            <a:r>
              <a:rPr lang="en-US" dirty="0">
                <a:latin typeface="Times New Roman" panose="02020603050405020304" pitchFamily="18" charset="0"/>
                <a:cs typeface="Times New Roman" panose="02020603050405020304" pitchFamily="18" charset="0"/>
              </a:rPr>
              <a:t>The highest-ranking model was </a:t>
            </a:r>
            <a:r>
              <a:rPr lang="en-US" b="1" dirty="0" err="1">
                <a:latin typeface="Times New Roman" panose="02020603050405020304" pitchFamily="18" charset="0"/>
                <a:cs typeface="Times New Roman" panose="02020603050405020304" pitchFamily="18" charset="0"/>
              </a:rPr>
              <a:t>Upsampling</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which achieved the best composite score across all metrics and comfortably met both TPR min. thresholds with TPR Yes = 75.7% and TPR No 86.3%.</a:t>
            </a:r>
          </a:p>
          <a:p>
            <a:pPr marL="0" indent="0">
              <a:spcAft>
                <a:spcPts val="100"/>
              </a:spcAft>
              <a:buNone/>
            </a:pPr>
            <a:r>
              <a:rPr lang="en-US" dirty="0">
                <a:latin typeface="Times New Roman" panose="02020603050405020304" pitchFamily="18" charset="0"/>
                <a:cs typeface="Times New Roman" panose="02020603050405020304" pitchFamily="18" charset="0"/>
              </a:rPr>
              <a:t>Achieved the best balance of sensitivity and specificity</a:t>
            </a:r>
          </a:p>
          <a:p>
            <a:pPr marL="0" indent="0">
              <a:spcAft>
                <a:spcPts val="100"/>
              </a:spcAft>
              <a:buNone/>
            </a:pPr>
            <a:r>
              <a:rPr lang="en-US" dirty="0">
                <a:latin typeface="Times New Roman" panose="02020603050405020304" pitchFamily="18" charset="0"/>
                <a:cs typeface="Times New Roman" panose="02020603050405020304" pitchFamily="18" charset="0"/>
              </a:rPr>
              <a:t>The top 3 models were:</a:t>
            </a:r>
          </a:p>
          <a:p>
            <a:pPr marL="0" indent="0">
              <a:spcAft>
                <a:spcPts val="100"/>
              </a:spcAft>
              <a:buNone/>
            </a:pPr>
            <a:r>
              <a:rPr lang="en-US" dirty="0">
                <a:latin typeface="Times New Roman" panose="02020603050405020304" pitchFamily="18" charset="0"/>
                <a:cs typeface="Times New Roman" panose="02020603050405020304" pitchFamily="18" charset="0"/>
              </a:rPr>
              <a:t>Up + </a:t>
            </a:r>
            <a:r>
              <a:rPr lang="en-US" dirty="0" err="1">
                <a:latin typeface="Times New Roman" panose="02020603050405020304" pitchFamily="18" charset="0"/>
                <a:cs typeface="Times New Roman" panose="02020603050405020304" pitchFamily="18" charset="0"/>
              </a:rPr>
              <a:t>XGBoost</a:t>
            </a:r>
            <a:endParaRPr lang="en-US" dirty="0">
              <a:latin typeface="Times New Roman" panose="02020603050405020304" pitchFamily="18" charset="0"/>
              <a:cs typeface="Times New Roman" panose="02020603050405020304" pitchFamily="18" charset="0"/>
            </a:endParaRPr>
          </a:p>
          <a:p>
            <a:pPr marL="0" indent="0">
              <a:spcAft>
                <a:spcPts val="100"/>
              </a:spcAft>
              <a:buNone/>
            </a:pPr>
            <a:r>
              <a:rPr lang="en-US" dirty="0">
                <a:latin typeface="Times New Roman" panose="02020603050405020304" pitchFamily="18" charset="0"/>
                <a:cs typeface="Times New Roman" panose="02020603050405020304" pitchFamily="18" charset="0"/>
              </a:rPr>
              <a:t>Down + </a:t>
            </a:r>
            <a:r>
              <a:rPr lang="en-US" dirty="0" err="1">
                <a:latin typeface="Times New Roman" panose="02020603050405020304" pitchFamily="18" charset="0"/>
                <a:cs typeface="Times New Roman" panose="02020603050405020304" pitchFamily="18" charset="0"/>
              </a:rPr>
              <a:t>XGBoost</a:t>
            </a:r>
            <a:endParaRPr lang="en-US" dirty="0">
              <a:latin typeface="Times New Roman" panose="02020603050405020304" pitchFamily="18" charset="0"/>
              <a:cs typeface="Times New Roman" panose="02020603050405020304" pitchFamily="18" charset="0"/>
            </a:endParaRPr>
          </a:p>
          <a:p>
            <a:pPr marL="0" indent="0">
              <a:spcAft>
                <a:spcPts val="100"/>
              </a:spcAft>
              <a:buNone/>
            </a:pPr>
            <a:r>
              <a:rPr lang="en-US" dirty="0">
                <a:latin typeface="Times New Roman" panose="02020603050405020304" pitchFamily="18" charset="0"/>
                <a:cs typeface="Times New Roman" panose="02020603050405020304" pitchFamily="18" charset="0"/>
              </a:rPr>
              <a:t>Up + Logistic</a:t>
            </a:r>
          </a:p>
          <a:p>
            <a:pPr marL="0" indent="0">
              <a:spcAft>
                <a:spcPts val="100"/>
              </a:spcAft>
              <a:buNone/>
            </a:pPr>
            <a:r>
              <a:rPr lang="en-US" b="1" dirty="0">
                <a:latin typeface="Times New Roman" panose="02020603050405020304" pitchFamily="18" charset="0"/>
                <a:cs typeface="Times New Roman" panose="02020603050405020304" pitchFamily="18" charset="0"/>
              </a:rPr>
              <a:t>Why Up </a:t>
            </a:r>
            <a:r>
              <a:rPr lang="en-US" b="1" dirty="0" err="1">
                <a:latin typeface="Times New Roman" panose="02020603050405020304" pitchFamily="18" charset="0"/>
                <a:cs typeface="Times New Roman" panose="02020603050405020304" pitchFamily="18" charset="0"/>
              </a:rPr>
              <a:t>XGBoost</a:t>
            </a:r>
            <a:r>
              <a:rPr lang="en-US" b="1" dirty="0">
                <a:latin typeface="Times New Roman" panose="02020603050405020304" pitchFamily="18" charset="0"/>
                <a:cs typeface="Times New Roman" panose="02020603050405020304" pitchFamily="18" charset="0"/>
              </a:rPr>
              <a:t> worked?</a:t>
            </a:r>
            <a:br>
              <a:rPr lang="en-US" dirty="0">
                <a:latin typeface="Times New Roman" panose="02020603050405020304" pitchFamily="18" charset="0"/>
                <a:cs typeface="Times New Roman" panose="02020603050405020304" pitchFamily="18" charset="0"/>
              </a:rPr>
            </a:br>
            <a:endParaRPr lang="en-US" dirty="0"/>
          </a:p>
        </p:txBody>
      </p:sp>
      <p:pic>
        <p:nvPicPr>
          <p:cNvPr id="5" name="Picture 4">
            <a:extLst>
              <a:ext uri="{FF2B5EF4-FFF2-40B4-BE49-F238E27FC236}">
                <a16:creationId xmlns:a16="http://schemas.microsoft.com/office/drawing/2014/main" id="{260638A0-3D30-1598-2854-E306FC12B1DB}"/>
              </a:ext>
            </a:extLst>
          </p:cNvPr>
          <p:cNvPicPr>
            <a:picLocks noChangeAspect="1"/>
          </p:cNvPicPr>
          <p:nvPr/>
        </p:nvPicPr>
        <p:blipFill>
          <a:blip r:embed="rId3"/>
          <a:stretch>
            <a:fillRect/>
          </a:stretch>
        </p:blipFill>
        <p:spPr>
          <a:xfrm>
            <a:off x="7751952" y="2289117"/>
            <a:ext cx="3588060" cy="3514913"/>
          </a:xfrm>
          <a:prstGeom prst="rect">
            <a:avLst/>
          </a:prstGeom>
        </p:spPr>
      </p:pic>
    </p:spTree>
    <p:extLst>
      <p:ext uri="{BB962C8B-B14F-4D97-AF65-F5344CB8AC3E}">
        <p14:creationId xmlns:p14="http://schemas.microsoft.com/office/powerpoint/2010/main" val="3082037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92633-3CE2-0536-DB53-61616ED9FB88}"/>
              </a:ext>
            </a:extLst>
          </p:cNvPr>
          <p:cNvSpPr>
            <a:spLocks noGrp="1"/>
          </p:cNvSpPr>
          <p:nvPr>
            <p:ph type="title"/>
          </p:nvPr>
        </p:nvSpPr>
        <p:spPr/>
        <p:txBody>
          <a:bodyPr/>
          <a:lstStyle/>
          <a:p>
            <a:r>
              <a:rPr lang="en-US" dirty="0"/>
              <a:t>Extended Validation and Best Model Update</a:t>
            </a:r>
          </a:p>
        </p:txBody>
      </p:sp>
      <p:sp>
        <p:nvSpPr>
          <p:cNvPr id="3" name="Content Placeholder 2">
            <a:extLst>
              <a:ext uri="{FF2B5EF4-FFF2-40B4-BE49-F238E27FC236}">
                <a16:creationId xmlns:a16="http://schemas.microsoft.com/office/drawing/2014/main" id="{A317D8DA-1246-551E-27F0-DC5CDBBC980B}"/>
              </a:ext>
            </a:extLst>
          </p:cNvPr>
          <p:cNvSpPr>
            <a:spLocks noGrp="1"/>
          </p:cNvSpPr>
          <p:nvPr>
            <p:ph idx="1"/>
          </p:nvPr>
        </p:nvSpPr>
        <p:spPr>
          <a:xfrm>
            <a:off x="1097279" y="2108201"/>
            <a:ext cx="10421785" cy="2701305"/>
          </a:xfrm>
        </p:spPr>
        <p:txBody>
          <a:bodyPr>
            <a:normAutofit fontScale="92500"/>
          </a:bodyPr>
          <a:lstStyle/>
          <a:p>
            <a:pPr marL="0" indent="0">
              <a:buNone/>
            </a:pPr>
            <a:r>
              <a:rPr lang="en-US" dirty="0">
                <a:latin typeface="Times New Roman" panose="02020603050405020304" pitchFamily="18" charset="0"/>
                <a:cs typeface="Times New Roman" panose="02020603050405020304" pitchFamily="18" charset="0"/>
              </a:rPr>
              <a:t>The models were retested on 10-fold cross validation, as this reduces variance across folds and confirms our model's robustness. </a:t>
            </a:r>
          </a:p>
          <a:p>
            <a:pPr marL="0" indent="0">
              <a:buNone/>
            </a:pPr>
            <a:r>
              <a:rPr lang="en-US" dirty="0">
                <a:latin typeface="Times New Roman" panose="02020603050405020304" pitchFamily="18" charset="0"/>
                <a:cs typeface="Times New Roman" panose="02020603050405020304" pitchFamily="18" charset="0"/>
              </a:rPr>
              <a:t>Up +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gave us the second-best results with respect to thresholds provided in our project, missing the best TPR_YES value of 76% by 0.3% for 10-fold but it was the best performing with 10-fold cross validation</a:t>
            </a:r>
          </a:p>
          <a:p>
            <a:pPr marL="0" indent="0">
              <a:buNone/>
            </a:pPr>
            <a:r>
              <a:rPr lang="en-US" dirty="0">
                <a:latin typeface="Times New Roman" panose="02020603050405020304" pitchFamily="18" charset="0"/>
                <a:cs typeface="Times New Roman" panose="02020603050405020304" pitchFamily="18" charset="0"/>
              </a:rPr>
              <a:t> Down +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performed the best with clearing all the thresholds previously in 3-fold cross validation, but 10-fold cross validation makes our model more robust. That’s why the results for this was finalized at last</a:t>
            </a:r>
          </a:p>
        </p:txBody>
      </p:sp>
      <p:sp>
        <p:nvSpPr>
          <p:cNvPr id="4" name="AutoShape 2">
            <a:extLst>
              <a:ext uri="{FF2B5EF4-FFF2-40B4-BE49-F238E27FC236}">
                <a16:creationId xmlns:a16="http://schemas.microsoft.com/office/drawing/2014/main" id="{A2D3FE19-E28F-3515-43CF-8B935D4BEF8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0C920E9B-1E2C-B769-4077-01BDDDCFE791}"/>
              </a:ext>
            </a:extLst>
          </p:cNvPr>
          <p:cNvSpPr>
            <a:spLocks noChangeAspect="1" noChangeArrowheads="1"/>
          </p:cNvSpPr>
          <p:nvPr/>
        </p:nvSpPr>
        <p:spPr bwMode="auto">
          <a:xfrm>
            <a:off x="2493818" y="3087855"/>
            <a:ext cx="7635834" cy="216103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a:extLst>
              <a:ext uri="{FF2B5EF4-FFF2-40B4-BE49-F238E27FC236}">
                <a16:creationId xmlns:a16="http://schemas.microsoft.com/office/drawing/2014/main" id="{0B7B584C-84FF-FEA6-65E4-55B8BE42645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A8CC1DBE-5608-6E24-ADFF-9700242265DC}"/>
              </a:ext>
            </a:extLst>
          </p:cNvPr>
          <p:cNvPicPr>
            <a:picLocks noChangeAspect="1"/>
          </p:cNvPicPr>
          <p:nvPr/>
        </p:nvPicPr>
        <p:blipFill>
          <a:blip r:embed="rId3"/>
          <a:stretch>
            <a:fillRect/>
          </a:stretch>
        </p:blipFill>
        <p:spPr>
          <a:xfrm>
            <a:off x="2062348" y="4947298"/>
            <a:ext cx="8295131" cy="800121"/>
          </a:xfrm>
          <a:prstGeom prst="rect">
            <a:avLst/>
          </a:prstGeom>
        </p:spPr>
      </p:pic>
    </p:spTree>
    <p:extLst>
      <p:ext uri="{BB962C8B-B14F-4D97-AF65-F5344CB8AC3E}">
        <p14:creationId xmlns:p14="http://schemas.microsoft.com/office/powerpoint/2010/main" val="1666118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01378-033C-059A-C86E-8D30B2301C3E}"/>
              </a:ext>
            </a:extLst>
          </p:cNvPr>
          <p:cNvSpPr>
            <a:spLocks noGrp="1"/>
          </p:cNvSpPr>
          <p:nvPr>
            <p:ph type="title"/>
          </p:nvPr>
        </p:nvSpPr>
        <p:spPr/>
        <p:txBody>
          <a:bodyPr/>
          <a:lstStyle/>
          <a:p>
            <a:r>
              <a:rPr lang="en-US" dirty="0"/>
              <a:t>Evolution of </a:t>
            </a:r>
            <a:r>
              <a:rPr lang="en-US" dirty="0" err="1"/>
              <a:t>XGBoost</a:t>
            </a:r>
            <a:r>
              <a:rPr lang="en-US" dirty="0"/>
              <a:t> Hyperparameter Tuning</a:t>
            </a:r>
          </a:p>
        </p:txBody>
      </p:sp>
      <p:sp>
        <p:nvSpPr>
          <p:cNvPr id="3" name="Content Placeholder 2">
            <a:extLst>
              <a:ext uri="{FF2B5EF4-FFF2-40B4-BE49-F238E27FC236}">
                <a16:creationId xmlns:a16="http://schemas.microsoft.com/office/drawing/2014/main" id="{7585ECC1-79F5-E9F9-6A40-BC1B57184C5B}"/>
              </a:ext>
            </a:extLst>
          </p:cNvPr>
          <p:cNvSpPr>
            <a:spLocks noGrp="1"/>
          </p:cNvSpPr>
          <p:nvPr>
            <p:ph idx="1"/>
          </p:nvPr>
        </p:nvSpPr>
        <p:spPr>
          <a:xfrm>
            <a:off x="1097280" y="2108201"/>
            <a:ext cx="4998720" cy="4185721"/>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We started with </a:t>
            </a:r>
            <a:r>
              <a:rPr lang="en-US" dirty="0" err="1">
                <a:latin typeface="Times New Roman" panose="02020603050405020304" pitchFamily="18" charset="0"/>
                <a:cs typeface="Times New Roman" panose="02020603050405020304" pitchFamily="18" charset="0"/>
              </a:rPr>
              <a:t>max_depth</a:t>
            </a:r>
            <a:r>
              <a:rPr lang="en-US" dirty="0">
                <a:latin typeface="Times New Roman" panose="02020603050405020304" pitchFamily="18" charset="0"/>
                <a:cs typeface="Times New Roman" panose="02020603050405020304" pitchFamily="18" charset="0"/>
              </a:rPr>
              <a:t> 2-3, eta 0.05-0.07, </a:t>
            </a:r>
            <a:r>
              <a:rPr lang="en-US" dirty="0" err="1">
                <a:latin typeface="Times New Roman" panose="02020603050405020304" pitchFamily="18" charset="0"/>
                <a:cs typeface="Times New Roman" panose="02020603050405020304" pitchFamily="18" charset="0"/>
              </a:rPr>
              <a:t>nrounds</a:t>
            </a:r>
            <a:r>
              <a:rPr lang="en-US" dirty="0">
                <a:latin typeface="Times New Roman" panose="02020603050405020304" pitchFamily="18" charset="0"/>
                <a:cs typeface="Times New Roman" panose="02020603050405020304" pitchFamily="18" charset="0"/>
              </a:rPr>
              <a:t> 60-80</a:t>
            </a:r>
          </a:p>
          <a:p>
            <a:r>
              <a:rPr lang="en-US" dirty="0">
                <a:latin typeface="Times New Roman" panose="02020603050405020304" pitchFamily="18" charset="0"/>
                <a:cs typeface="Times New Roman" panose="02020603050405020304" pitchFamily="18" charset="0"/>
              </a:rPr>
              <a:t>CV results showed </a:t>
            </a:r>
            <a:r>
              <a:rPr lang="en-US" dirty="0" err="1">
                <a:latin typeface="Times New Roman" panose="02020603050405020304" pitchFamily="18" charset="0"/>
                <a:cs typeface="Times New Roman" panose="02020603050405020304" pitchFamily="18" charset="0"/>
              </a:rPr>
              <a:t>TPR_Yes</a:t>
            </a:r>
            <a:r>
              <a:rPr lang="en-US" dirty="0">
                <a:latin typeface="Times New Roman" panose="02020603050405020304" pitchFamily="18" charset="0"/>
                <a:cs typeface="Times New Roman" panose="02020603050405020304" pitchFamily="18" charset="0"/>
              </a:rPr>
              <a:t> too low around 0.68-0.71.</a:t>
            </a:r>
          </a:p>
          <a:p>
            <a:r>
              <a:rPr lang="en-US" dirty="0">
                <a:latin typeface="Times New Roman" panose="02020603050405020304" pitchFamily="18" charset="0"/>
                <a:cs typeface="Times New Roman" panose="02020603050405020304" pitchFamily="18" charset="0"/>
              </a:rPr>
              <a:t>So, we moved eta to 0.05-0.09, n rounds to 90 from 80, but not 100. </a:t>
            </a:r>
          </a:p>
          <a:p>
            <a:r>
              <a:rPr lang="en-US" dirty="0">
                <a:latin typeface="Times New Roman" panose="02020603050405020304" pitchFamily="18" charset="0"/>
                <a:cs typeface="Times New Roman" panose="02020603050405020304" pitchFamily="18" charset="0"/>
              </a:rPr>
              <a:t>Max depth fixed at 2, as 3 improved </a:t>
            </a:r>
            <a:r>
              <a:rPr lang="en-US" dirty="0" err="1">
                <a:latin typeface="Times New Roman" panose="02020603050405020304" pitchFamily="18" charset="0"/>
                <a:cs typeface="Times New Roman" panose="02020603050405020304" pitchFamily="18" charset="0"/>
              </a:rPr>
              <a:t>tpr_yes</a:t>
            </a:r>
            <a:r>
              <a:rPr lang="en-US" dirty="0">
                <a:latin typeface="Times New Roman" panose="02020603050405020304" pitchFamily="18" charset="0"/>
                <a:cs typeface="Times New Roman" panose="02020603050405020304" pitchFamily="18" charset="0"/>
              </a:rPr>
              <a:t> but hurt </a:t>
            </a:r>
            <a:r>
              <a:rPr lang="en-US" dirty="0" err="1">
                <a:latin typeface="Times New Roman" panose="02020603050405020304" pitchFamily="18" charset="0"/>
                <a:cs typeface="Times New Roman" panose="02020603050405020304" pitchFamily="18" charset="0"/>
              </a:rPr>
              <a:t>tpr_no</a:t>
            </a:r>
            <a:r>
              <a:rPr lang="en-US" dirty="0">
                <a:latin typeface="Times New Roman" panose="02020603050405020304" pitchFamily="18" charset="0"/>
                <a:cs typeface="Times New Roman" panose="02020603050405020304" pitchFamily="18" charset="0"/>
              </a:rPr>
              <a:t>, as shallow trees generalize better.</a:t>
            </a:r>
          </a:p>
          <a:p>
            <a:r>
              <a:rPr lang="en-US" dirty="0">
                <a:latin typeface="Times New Roman" panose="02020603050405020304" pitchFamily="18" charset="0"/>
                <a:cs typeface="Times New Roman" panose="02020603050405020304" pitchFamily="18" charset="0"/>
              </a:rPr>
              <a:t>Gamma from 0 or 1 went to 3, which helped in avoiding weak splits, and stabilizing boundaries for No-class</a:t>
            </a:r>
          </a:p>
          <a:p>
            <a:r>
              <a:rPr lang="en-US" dirty="0">
                <a:latin typeface="Times New Roman" panose="02020603050405020304" pitchFamily="18" charset="0"/>
                <a:cs typeface="Times New Roman" panose="02020603050405020304" pitchFamily="18" charset="0"/>
              </a:rPr>
              <a:t>Reduced tiny unstable leaves by changing </a:t>
            </a:r>
            <a:r>
              <a:rPr lang="en-US" dirty="0" err="1">
                <a:latin typeface="Times New Roman" panose="02020603050405020304" pitchFamily="18" charset="0"/>
                <a:cs typeface="Times New Roman" panose="02020603050405020304" pitchFamily="18" charset="0"/>
              </a:rPr>
              <a:t>min_child_weight</a:t>
            </a:r>
            <a:r>
              <a:rPr lang="en-US" dirty="0">
                <a:latin typeface="Times New Roman" panose="02020603050405020304" pitchFamily="18" charset="0"/>
                <a:cs typeface="Times New Roman" panose="02020603050405020304" pitchFamily="18" charset="0"/>
              </a:rPr>
              <a:t> from 5 to 6, for which we paid the cost</a:t>
            </a:r>
          </a:p>
          <a:p>
            <a:r>
              <a:rPr lang="en-US" dirty="0">
                <a:latin typeface="Times New Roman" panose="02020603050405020304" pitchFamily="18" charset="0"/>
                <a:cs typeface="Times New Roman" panose="02020603050405020304" pitchFamily="18" charset="0"/>
              </a:rPr>
              <a:t>These tunings gave us our best result initially. </a:t>
            </a:r>
          </a:p>
        </p:txBody>
      </p:sp>
      <p:sp>
        <p:nvSpPr>
          <p:cNvPr id="4" name="TextBox 3">
            <a:extLst>
              <a:ext uri="{FF2B5EF4-FFF2-40B4-BE49-F238E27FC236}">
                <a16:creationId xmlns:a16="http://schemas.microsoft.com/office/drawing/2014/main" id="{7CCA3959-5B09-0B2B-81CD-57B9D30E1CA1}"/>
              </a:ext>
            </a:extLst>
          </p:cNvPr>
          <p:cNvSpPr txBox="1"/>
          <p:nvPr/>
        </p:nvSpPr>
        <p:spPr>
          <a:xfrm>
            <a:off x="6365174" y="2108201"/>
            <a:ext cx="5106390"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After checking our models with 10-fold cross validation, our best model was still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with the same manually set hyperparameter. </a:t>
            </a: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Upsampling</a:t>
            </a:r>
            <a:r>
              <a:rPr lang="en-US" dirty="0">
                <a:latin typeface="Times New Roman" panose="02020603050405020304" pitchFamily="18" charset="0"/>
                <a:cs typeface="Times New Roman" panose="02020603050405020304" pitchFamily="18" charset="0"/>
              </a:rPr>
              <a:t> gave us our best results this time. </a:t>
            </a:r>
          </a:p>
        </p:txBody>
      </p:sp>
    </p:spTree>
    <p:extLst>
      <p:ext uri="{BB962C8B-B14F-4D97-AF65-F5344CB8AC3E}">
        <p14:creationId xmlns:p14="http://schemas.microsoft.com/office/powerpoint/2010/main" val="140732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A12263-353F-C7C5-93F2-7CFF9472E782}"/>
              </a:ext>
            </a:extLst>
          </p:cNvPr>
          <p:cNvPicPr>
            <a:picLocks noChangeAspect="1"/>
          </p:cNvPicPr>
          <p:nvPr/>
        </p:nvPicPr>
        <p:blipFill>
          <a:blip r:embed="rId2"/>
          <a:stretch>
            <a:fillRect/>
          </a:stretch>
        </p:blipFill>
        <p:spPr>
          <a:xfrm>
            <a:off x="560120" y="2356909"/>
            <a:ext cx="5535880" cy="2951704"/>
          </a:xfrm>
          <a:prstGeom prst="rect">
            <a:avLst/>
          </a:prstGeom>
        </p:spPr>
      </p:pic>
      <p:pic>
        <p:nvPicPr>
          <p:cNvPr id="5" name="Picture 4">
            <a:extLst>
              <a:ext uri="{FF2B5EF4-FFF2-40B4-BE49-F238E27FC236}">
                <a16:creationId xmlns:a16="http://schemas.microsoft.com/office/drawing/2014/main" id="{CDEE7471-3F75-7164-CBC5-0867BF35F1CD}"/>
              </a:ext>
            </a:extLst>
          </p:cNvPr>
          <p:cNvPicPr>
            <a:picLocks noChangeAspect="1"/>
          </p:cNvPicPr>
          <p:nvPr/>
        </p:nvPicPr>
        <p:blipFill>
          <a:blip r:embed="rId3"/>
          <a:stretch>
            <a:fillRect/>
          </a:stretch>
        </p:blipFill>
        <p:spPr>
          <a:xfrm>
            <a:off x="6519418" y="2356909"/>
            <a:ext cx="5445285" cy="2951704"/>
          </a:xfrm>
          <a:prstGeom prst="rect">
            <a:avLst/>
          </a:prstGeom>
        </p:spPr>
      </p:pic>
      <p:sp>
        <p:nvSpPr>
          <p:cNvPr id="6" name="Title 5">
            <a:extLst>
              <a:ext uri="{FF2B5EF4-FFF2-40B4-BE49-F238E27FC236}">
                <a16:creationId xmlns:a16="http://schemas.microsoft.com/office/drawing/2014/main" id="{9BB94DF0-26CD-8B81-58A8-14C4D4BB0272}"/>
              </a:ext>
            </a:extLst>
          </p:cNvPr>
          <p:cNvSpPr>
            <a:spLocks noGrp="1"/>
          </p:cNvSpPr>
          <p:nvPr>
            <p:ph type="title"/>
          </p:nvPr>
        </p:nvSpPr>
        <p:spPr/>
        <p:txBody>
          <a:bodyPr/>
          <a:lstStyle/>
          <a:p>
            <a:r>
              <a:rPr lang="en-US" dirty="0"/>
              <a:t>3-Fold Cross Validation Selected Model Performance &amp; Comparison</a:t>
            </a:r>
          </a:p>
        </p:txBody>
      </p:sp>
    </p:spTree>
    <p:extLst>
      <p:ext uri="{BB962C8B-B14F-4D97-AF65-F5344CB8AC3E}">
        <p14:creationId xmlns:p14="http://schemas.microsoft.com/office/powerpoint/2010/main" val="4003058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5EB2C-F914-E2B0-30D3-54261C36244D}"/>
              </a:ext>
            </a:extLst>
          </p:cNvPr>
          <p:cNvSpPr>
            <a:spLocks noGrp="1"/>
          </p:cNvSpPr>
          <p:nvPr>
            <p:ph type="title"/>
          </p:nvPr>
        </p:nvSpPr>
        <p:spPr/>
        <p:txBody>
          <a:bodyPr/>
          <a:lstStyle/>
          <a:p>
            <a:r>
              <a:rPr lang="en-US" dirty="0"/>
              <a:t>10-Fold Cross Validation Selected Models and Performance</a:t>
            </a:r>
          </a:p>
        </p:txBody>
      </p:sp>
      <p:graphicFrame>
        <p:nvGraphicFramePr>
          <p:cNvPr id="4" name="Content Placeholder 3">
            <a:extLst>
              <a:ext uri="{FF2B5EF4-FFF2-40B4-BE49-F238E27FC236}">
                <a16:creationId xmlns:a16="http://schemas.microsoft.com/office/drawing/2014/main" id="{75DD4335-1201-F22C-ED7A-A5D5283F8072}"/>
              </a:ext>
            </a:extLst>
          </p:cNvPr>
          <p:cNvGraphicFramePr>
            <a:graphicFrameLocks noGrp="1"/>
          </p:cNvGraphicFramePr>
          <p:nvPr>
            <p:ph idx="1"/>
            <p:extLst>
              <p:ext uri="{D42A27DB-BD31-4B8C-83A1-F6EECF244321}">
                <p14:modId xmlns:p14="http://schemas.microsoft.com/office/powerpoint/2010/main" val="1591937204"/>
              </p:ext>
            </p:extLst>
          </p:nvPr>
        </p:nvGraphicFramePr>
        <p:xfrm>
          <a:off x="7837713" y="2163347"/>
          <a:ext cx="3918860" cy="3655561"/>
        </p:xfrm>
        <a:graphic>
          <a:graphicData uri="http://schemas.openxmlformats.org/drawingml/2006/table">
            <a:tbl>
              <a:tblPr firstRow="1" bandRow="1">
                <a:tableStyleId>{5C22544A-7EE6-4342-B048-85BDC9FD1C3A}</a:tableStyleId>
              </a:tblPr>
              <a:tblGrid>
                <a:gridCol w="1457620">
                  <a:extLst>
                    <a:ext uri="{9D8B030D-6E8A-4147-A177-3AD203B41FA5}">
                      <a16:colId xmlns:a16="http://schemas.microsoft.com/office/drawing/2014/main" val="2559977117"/>
                    </a:ext>
                  </a:extLst>
                </a:gridCol>
                <a:gridCol w="615310">
                  <a:extLst>
                    <a:ext uri="{9D8B030D-6E8A-4147-A177-3AD203B41FA5}">
                      <a16:colId xmlns:a16="http://schemas.microsoft.com/office/drawing/2014/main" val="3963107162"/>
                    </a:ext>
                  </a:extLst>
                </a:gridCol>
                <a:gridCol w="615310">
                  <a:extLst>
                    <a:ext uri="{9D8B030D-6E8A-4147-A177-3AD203B41FA5}">
                      <a16:colId xmlns:a16="http://schemas.microsoft.com/office/drawing/2014/main" val="1834435251"/>
                    </a:ext>
                  </a:extLst>
                </a:gridCol>
                <a:gridCol w="615310">
                  <a:extLst>
                    <a:ext uri="{9D8B030D-6E8A-4147-A177-3AD203B41FA5}">
                      <a16:colId xmlns:a16="http://schemas.microsoft.com/office/drawing/2014/main" val="1488135372"/>
                    </a:ext>
                  </a:extLst>
                </a:gridCol>
                <a:gridCol w="615310">
                  <a:extLst>
                    <a:ext uri="{9D8B030D-6E8A-4147-A177-3AD203B41FA5}">
                      <a16:colId xmlns:a16="http://schemas.microsoft.com/office/drawing/2014/main" val="3516676832"/>
                    </a:ext>
                  </a:extLst>
                </a:gridCol>
              </a:tblGrid>
              <a:tr h="394432">
                <a:tc>
                  <a:txBody>
                    <a:bodyPr/>
                    <a:lstStyle/>
                    <a:p>
                      <a:pPr>
                        <a:buNone/>
                      </a:pPr>
                      <a:r>
                        <a:rPr lang="en-US" sz="1400" b="1" dirty="0"/>
                        <a:t>Model</a:t>
                      </a:r>
                      <a:endParaRPr lang="en-US" sz="1400" dirty="0"/>
                    </a:p>
                  </a:txBody>
                  <a:tcPr anchor="ctr"/>
                </a:tc>
                <a:tc>
                  <a:txBody>
                    <a:bodyPr/>
                    <a:lstStyle/>
                    <a:p>
                      <a:pPr>
                        <a:buNone/>
                      </a:pPr>
                      <a:r>
                        <a:rPr lang="en-US" sz="1400" b="1"/>
                        <a:t>TP</a:t>
                      </a:r>
                      <a:endParaRPr lang="en-US" sz="1400"/>
                    </a:p>
                  </a:txBody>
                  <a:tcPr anchor="ctr"/>
                </a:tc>
                <a:tc>
                  <a:txBody>
                    <a:bodyPr/>
                    <a:lstStyle/>
                    <a:p>
                      <a:pPr>
                        <a:buNone/>
                      </a:pPr>
                      <a:r>
                        <a:rPr lang="en-US" sz="1400" b="1"/>
                        <a:t>FN</a:t>
                      </a:r>
                      <a:endParaRPr lang="en-US" sz="1400"/>
                    </a:p>
                  </a:txBody>
                  <a:tcPr anchor="ctr"/>
                </a:tc>
                <a:tc>
                  <a:txBody>
                    <a:bodyPr/>
                    <a:lstStyle/>
                    <a:p>
                      <a:pPr>
                        <a:buNone/>
                      </a:pPr>
                      <a:r>
                        <a:rPr lang="en-US" sz="1400" b="1"/>
                        <a:t>FP</a:t>
                      </a:r>
                      <a:endParaRPr lang="en-US" sz="1400"/>
                    </a:p>
                  </a:txBody>
                  <a:tcPr anchor="ctr"/>
                </a:tc>
                <a:tc>
                  <a:txBody>
                    <a:bodyPr/>
                    <a:lstStyle/>
                    <a:p>
                      <a:pPr>
                        <a:buNone/>
                      </a:pPr>
                      <a:r>
                        <a:rPr lang="en-US" sz="1400" b="1"/>
                        <a:t>TN</a:t>
                      </a:r>
                      <a:endParaRPr lang="en-US" sz="1400"/>
                    </a:p>
                  </a:txBody>
                  <a:tcPr anchor="ctr"/>
                </a:tc>
                <a:extLst>
                  <a:ext uri="{0D108BD9-81ED-4DB2-BD59-A6C34878D82A}">
                    <a16:rowId xmlns:a16="http://schemas.microsoft.com/office/drawing/2014/main" val="1982988483"/>
                  </a:ext>
                </a:extLst>
              </a:tr>
              <a:tr h="901558">
                <a:tc>
                  <a:txBody>
                    <a:bodyPr/>
                    <a:lstStyle/>
                    <a:p>
                      <a:pPr>
                        <a:buNone/>
                      </a:pPr>
                      <a:r>
                        <a:rPr lang="en-US" sz="1400" b="1" dirty="0"/>
                        <a:t>Up + </a:t>
                      </a:r>
                      <a:r>
                        <a:rPr lang="en-US" sz="1400" b="1" dirty="0" err="1"/>
                        <a:t>XGBoost</a:t>
                      </a:r>
                      <a:r>
                        <a:rPr lang="en-US" sz="1400" b="1" dirty="0"/>
                        <a:t> (Best)</a:t>
                      </a:r>
                      <a:endParaRPr lang="en-US" sz="1400" dirty="0"/>
                    </a:p>
                  </a:txBody>
                  <a:tcPr anchor="ctr"/>
                </a:tc>
                <a:tc>
                  <a:txBody>
                    <a:bodyPr/>
                    <a:lstStyle/>
                    <a:p>
                      <a:pPr>
                        <a:buNone/>
                      </a:pPr>
                      <a:r>
                        <a:rPr lang="en-US" sz="1400" b="1" dirty="0"/>
                        <a:t>115</a:t>
                      </a:r>
                      <a:endParaRPr lang="en-US" sz="1400" dirty="0"/>
                    </a:p>
                  </a:txBody>
                  <a:tcPr anchor="ctr"/>
                </a:tc>
                <a:tc>
                  <a:txBody>
                    <a:bodyPr/>
                    <a:lstStyle/>
                    <a:p>
                      <a:pPr>
                        <a:buNone/>
                      </a:pPr>
                      <a:r>
                        <a:rPr lang="en-US" sz="1400" b="1"/>
                        <a:t>37</a:t>
                      </a:r>
                      <a:endParaRPr lang="en-US" sz="1400"/>
                    </a:p>
                  </a:txBody>
                  <a:tcPr anchor="ctr"/>
                </a:tc>
                <a:tc>
                  <a:txBody>
                    <a:bodyPr/>
                    <a:lstStyle/>
                    <a:p>
                      <a:pPr>
                        <a:buNone/>
                      </a:pPr>
                      <a:r>
                        <a:rPr lang="en-US" sz="1400" b="1"/>
                        <a:t>183</a:t>
                      </a:r>
                      <a:endParaRPr lang="en-US" sz="1400"/>
                    </a:p>
                  </a:txBody>
                  <a:tcPr anchor="ctr"/>
                </a:tc>
                <a:tc>
                  <a:txBody>
                    <a:bodyPr/>
                    <a:lstStyle/>
                    <a:p>
                      <a:pPr>
                        <a:buNone/>
                      </a:pPr>
                      <a:r>
                        <a:rPr lang="en-US" sz="1400" b="1"/>
                        <a:t>1154</a:t>
                      </a:r>
                      <a:endParaRPr lang="en-US" sz="1400"/>
                    </a:p>
                  </a:txBody>
                  <a:tcPr anchor="ctr"/>
                </a:tc>
                <a:extLst>
                  <a:ext uri="{0D108BD9-81ED-4DB2-BD59-A6C34878D82A}">
                    <a16:rowId xmlns:a16="http://schemas.microsoft.com/office/drawing/2014/main" val="1902847494"/>
                  </a:ext>
                </a:extLst>
              </a:tr>
              <a:tr h="850543">
                <a:tc>
                  <a:txBody>
                    <a:bodyPr/>
                    <a:lstStyle/>
                    <a:p>
                      <a:pPr>
                        <a:buNone/>
                      </a:pPr>
                      <a:r>
                        <a:rPr lang="en-US" sz="1400" b="1"/>
                        <a:t>Down + XGBoost</a:t>
                      </a:r>
                      <a:endParaRPr lang="en-US" sz="1400"/>
                    </a:p>
                  </a:txBody>
                  <a:tcPr anchor="ctr"/>
                </a:tc>
                <a:tc>
                  <a:txBody>
                    <a:bodyPr/>
                    <a:lstStyle/>
                    <a:p>
                      <a:pPr>
                        <a:buNone/>
                      </a:pPr>
                      <a:r>
                        <a:rPr lang="en-US" sz="1400" b="1" dirty="0"/>
                        <a:t>118</a:t>
                      </a:r>
                      <a:endParaRPr lang="en-US" sz="1400" dirty="0"/>
                    </a:p>
                  </a:txBody>
                  <a:tcPr anchor="ctr"/>
                </a:tc>
                <a:tc>
                  <a:txBody>
                    <a:bodyPr/>
                    <a:lstStyle/>
                    <a:p>
                      <a:pPr>
                        <a:buNone/>
                      </a:pPr>
                      <a:r>
                        <a:rPr lang="en-US" sz="1400" b="1" dirty="0"/>
                        <a:t>34</a:t>
                      </a:r>
                      <a:endParaRPr lang="en-US" sz="1400" dirty="0"/>
                    </a:p>
                  </a:txBody>
                  <a:tcPr anchor="ctr"/>
                </a:tc>
                <a:tc>
                  <a:txBody>
                    <a:bodyPr/>
                    <a:lstStyle/>
                    <a:p>
                      <a:pPr>
                        <a:buNone/>
                      </a:pPr>
                      <a:r>
                        <a:rPr lang="en-US" sz="1400" b="1"/>
                        <a:t>219</a:t>
                      </a:r>
                      <a:endParaRPr lang="en-US" sz="1400"/>
                    </a:p>
                  </a:txBody>
                  <a:tcPr anchor="ctr"/>
                </a:tc>
                <a:tc>
                  <a:txBody>
                    <a:bodyPr/>
                    <a:lstStyle/>
                    <a:p>
                      <a:pPr>
                        <a:buNone/>
                      </a:pPr>
                      <a:r>
                        <a:rPr lang="en-US" sz="1400" b="1"/>
                        <a:t>1118</a:t>
                      </a:r>
                      <a:endParaRPr lang="en-US" sz="1400"/>
                    </a:p>
                  </a:txBody>
                  <a:tcPr anchor="ctr"/>
                </a:tc>
                <a:extLst>
                  <a:ext uri="{0D108BD9-81ED-4DB2-BD59-A6C34878D82A}">
                    <a16:rowId xmlns:a16="http://schemas.microsoft.com/office/drawing/2014/main" val="3854387889"/>
                  </a:ext>
                </a:extLst>
              </a:tr>
              <a:tr h="658485">
                <a:tc>
                  <a:txBody>
                    <a:bodyPr/>
                    <a:lstStyle/>
                    <a:p>
                      <a:pPr>
                        <a:buNone/>
                      </a:pPr>
                      <a:r>
                        <a:rPr lang="en-US" sz="1400" b="1"/>
                        <a:t>Up + Logistic</a:t>
                      </a:r>
                      <a:endParaRPr lang="en-US" sz="1400"/>
                    </a:p>
                  </a:txBody>
                  <a:tcPr anchor="ctr"/>
                </a:tc>
                <a:tc>
                  <a:txBody>
                    <a:bodyPr/>
                    <a:lstStyle/>
                    <a:p>
                      <a:pPr>
                        <a:buNone/>
                      </a:pPr>
                      <a:r>
                        <a:rPr lang="en-US" sz="1400" b="1" dirty="0"/>
                        <a:t>113</a:t>
                      </a:r>
                      <a:endParaRPr lang="en-US" sz="1400" dirty="0"/>
                    </a:p>
                  </a:txBody>
                  <a:tcPr anchor="ctr"/>
                </a:tc>
                <a:tc>
                  <a:txBody>
                    <a:bodyPr/>
                    <a:lstStyle/>
                    <a:p>
                      <a:pPr>
                        <a:buNone/>
                      </a:pPr>
                      <a:r>
                        <a:rPr lang="en-US" sz="1400" b="1" dirty="0"/>
                        <a:t>39</a:t>
                      </a:r>
                      <a:endParaRPr lang="en-US" sz="1400" dirty="0"/>
                    </a:p>
                  </a:txBody>
                  <a:tcPr anchor="ctr"/>
                </a:tc>
                <a:tc>
                  <a:txBody>
                    <a:bodyPr/>
                    <a:lstStyle/>
                    <a:p>
                      <a:pPr>
                        <a:buNone/>
                      </a:pPr>
                      <a:r>
                        <a:rPr lang="en-US" sz="1400" b="1" dirty="0"/>
                        <a:t>206</a:t>
                      </a:r>
                      <a:endParaRPr lang="en-US" sz="1400" dirty="0"/>
                    </a:p>
                  </a:txBody>
                  <a:tcPr anchor="ctr"/>
                </a:tc>
                <a:tc>
                  <a:txBody>
                    <a:bodyPr/>
                    <a:lstStyle/>
                    <a:p>
                      <a:pPr>
                        <a:buNone/>
                      </a:pPr>
                      <a:r>
                        <a:rPr lang="en-US" sz="1400" b="1"/>
                        <a:t>1131</a:t>
                      </a:r>
                      <a:endParaRPr lang="en-US" sz="1400"/>
                    </a:p>
                  </a:txBody>
                  <a:tcPr anchor="ctr"/>
                </a:tc>
                <a:extLst>
                  <a:ext uri="{0D108BD9-81ED-4DB2-BD59-A6C34878D82A}">
                    <a16:rowId xmlns:a16="http://schemas.microsoft.com/office/drawing/2014/main" val="3640553860"/>
                  </a:ext>
                </a:extLst>
              </a:tr>
              <a:tr h="850543">
                <a:tc>
                  <a:txBody>
                    <a:bodyPr/>
                    <a:lstStyle/>
                    <a:p>
                      <a:pPr>
                        <a:buNone/>
                      </a:pPr>
                      <a:r>
                        <a:rPr lang="en-US" sz="1400" b="1"/>
                        <a:t>Down + Logistic</a:t>
                      </a:r>
                      <a:endParaRPr lang="en-US" sz="1400"/>
                    </a:p>
                  </a:txBody>
                  <a:tcPr anchor="ctr"/>
                </a:tc>
                <a:tc>
                  <a:txBody>
                    <a:bodyPr/>
                    <a:lstStyle/>
                    <a:p>
                      <a:pPr>
                        <a:buNone/>
                      </a:pPr>
                      <a:r>
                        <a:rPr lang="en-US" sz="1400" b="1"/>
                        <a:t>113</a:t>
                      </a:r>
                      <a:endParaRPr lang="en-US" sz="1400"/>
                    </a:p>
                  </a:txBody>
                  <a:tcPr anchor="ctr"/>
                </a:tc>
                <a:tc>
                  <a:txBody>
                    <a:bodyPr/>
                    <a:lstStyle/>
                    <a:p>
                      <a:pPr>
                        <a:buNone/>
                      </a:pPr>
                      <a:r>
                        <a:rPr lang="en-US" sz="1400" b="1"/>
                        <a:t>39</a:t>
                      </a:r>
                      <a:endParaRPr lang="en-US" sz="1400"/>
                    </a:p>
                  </a:txBody>
                  <a:tcPr anchor="ctr"/>
                </a:tc>
                <a:tc>
                  <a:txBody>
                    <a:bodyPr/>
                    <a:lstStyle/>
                    <a:p>
                      <a:pPr>
                        <a:buNone/>
                      </a:pPr>
                      <a:r>
                        <a:rPr lang="en-US" sz="1400" b="1" dirty="0"/>
                        <a:t>246</a:t>
                      </a:r>
                      <a:endParaRPr lang="en-US" sz="1400" dirty="0"/>
                    </a:p>
                  </a:txBody>
                  <a:tcPr anchor="ctr"/>
                </a:tc>
                <a:tc>
                  <a:txBody>
                    <a:bodyPr/>
                    <a:lstStyle/>
                    <a:p>
                      <a:pPr>
                        <a:buNone/>
                      </a:pPr>
                      <a:r>
                        <a:rPr lang="en-US" sz="1400" b="1" dirty="0"/>
                        <a:t>1091</a:t>
                      </a:r>
                      <a:endParaRPr lang="en-US" sz="1400" dirty="0"/>
                    </a:p>
                  </a:txBody>
                  <a:tcPr anchor="ctr"/>
                </a:tc>
                <a:extLst>
                  <a:ext uri="{0D108BD9-81ED-4DB2-BD59-A6C34878D82A}">
                    <a16:rowId xmlns:a16="http://schemas.microsoft.com/office/drawing/2014/main" val="1678802968"/>
                  </a:ext>
                </a:extLst>
              </a:tr>
            </a:tbl>
          </a:graphicData>
        </a:graphic>
      </p:graphicFrame>
      <p:graphicFrame>
        <p:nvGraphicFramePr>
          <p:cNvPr id="5" name="Table 4">
            <a:extLst>
              <a:ext uri="{FF2B5EF4-FFF2-40B4-BE49-F238E27FC236}">
                <a16:creationId xmlns:a16="http://schemas.microsoft.com/office/drawing/2014/main" id="{79E220EC-F57F-00BA-D17E-C5C3CDB0A38C}"/>
              </a:ext>
            </a:extLst>
          </p:cNvPr>
          <p:cNvGraphicFramePr>
            <a:graphicFrameLocks noGrp="1"/>
          </p:cNvGraphicFramePr>
          <p:nvPr>
            <p:extLst>
              <p:ext uri="{D42A27DB-BD31-4B8C-83A1-F6EECF244321}">
                <p14:modId xmlns:p14="http://schemas.microsoft.com/office/powerpoint/2010/main" val="2592872585"/>
              </p:ext>
            </p:extLst>
          </p:nvPr>
        </p:nvGraphicFramePr>
        <p:xfrm>
          <a:off x="237697" y="2120844"/>
          <a:ext cx="7493141" cy="3804942"/>
        </p:xfrm>
        <a:graphic>
          <a:graphicData uri="http://schemas.openxmlformats.org/drawingml/2006/table">
            <a:tbl>
              <a:tblPr firstRow="1" bandRow="1">
                <a:tableStyleId>{5C22544A-7EE6-4342-B048-85BDC9FD1C3A}</a:tableStyleId>
              </a:tblPr>
              <a:tblGrid>
                <a:gridCol w="581949">
                  <a:extLst>
                    <a:ext uri="{9D8B030D-6E8A-4147-A177-3AD203B41FA5}">
                      <a16:colId xmlns:a16="http://schemas.microsoft.com/office/drawing/2014/main" val="1459413415"/>
                    </a:ext>
                  </a:extLst>
                </a:gridCol>
                <a:gridCol w="1573416">
                  <a:extLst>
                    <a:ext uri="{9D8B030D-6E8A-4147-A177-3AD203B41FA5}">
                      <a16:colId xmlns:a16="http://schemas.microsoft.com/office/drawing/2014/main" val="1030424067"/>
                    </a:ext>
                  </a:extLst>
                </a:gridCol>
                <a:gridCol w="910780">
                  <a:extLst>
                    <a:ext uri="{9D8B030D-6E8A-4147-A177-3AD203B41FA5}">
                      <a16:colId xmlns:a16="http://schemas.microsoft.com/office/drawing/2014/main" val="1195732349"/>
                    </a:ext>
                  </a:extLst>
                </a:gridCol>
                <a:gridCol w="964603">
                  <a:extLst>
                    <a:ext uri="{9D8B030D-6E8A-4147-A177-3AD203B41FA5}">
                      <a16:colId xmlns:a16="http://schemas.microsoft.com/office/drawing/2014/main" val="3941000681"/>
                    </a:ext>
                  </a:extLst>
                </a:gridCol>
                <a:gridCol w="874764">
                  <a:extLst>
                    <a:ext uri="{9D8B030D-6E8A-4147-A177-3AD203B41FA5}">
                      <a16:colId xmlns:a16="http://schemas.microsoft.com/office/drawing/2014/main" val="3822592981"/>
                    </a:ext>
                  </a:extLst>
                </a:gridCol>
                <a:gridCol w="876205">
                  <a:extLst>
                    <a:ext uri="{9D8B030D-6E8A-4147-A177-3AD203B41FA5}">
                      <a16:colId xmlns:a16="http://schemas.microsoft.com/office/drawing/2014/main" val="2403027451"/>
                    </a:ext>
                  </a:extLst>
                </a:gridCol>
                <a:gridCol w="881967">
                  <a:extLst>
                    <a:ext uri="{9D8B030D-6E8A-4147-A177-3AD203B41FA5}">
                      <a16:colId xmlns:a16="http://schemas.microsoft.com/office/drawing/2014/main" val="539484422"/>
                    </a:ext>
                  </a:extLst>
                </a:gridCol>
                <a:gridCol w="829457">
                  <a:extLst>
                    <a:ext uri="{9D8B030D-6E8A-4147-A177-3AD203B41FA5}">
                      <a16:colId xmlns:a16="http://schemas.microsoft.com/office/drawing/2014/main" val="1512847227"/>
                    </a:ext>
                  </a:extLst>
                </a:gridCol>
              </a:tblGrid>
              <a:tr h="821761">
                <a:tc>
                  <a:txBody>
                    <a:bodyPr/>
                    <a:lstStyle/>
                    <a:p>
                      <a:pPr>
                        <a:buNone/>
                      </a:pPr>
                      <a:r>
                        <a:rPr lang="en-US" sz="1200" dirty="0"/>
                        <a:t>Rank</a:t>
                      </a:r>
                    </a:p>
                  </a:txBody>
                  <a:tcPr anchor="ctr"/>
                </a:tc>
                <a:tc>
                  <a:txBody>
                    <a:bodyPr/>
                    <a:lstStyle/>
                    <a:p>
                      <a:pPr>
                        <a:buNone/>
                      </a:pPr>
                      <a:r>
                        <a:rPr lang="en-US" sz="1200" dirty="0"/>
                        <a:t>Model</a:t>
                      </a:r>
                    </a:p>
                  </a:txBody>
                  <a:tcPr anchor="ctr"/>
                </a:tc>
                <a:tc>
                  <a:txBody>
                    <a:bodyPr/>
                    <a:lstStyle/>
                    <a:p>
                      <a:pPr>
                        <a:buNone/>
                      </a:pPr>
                      <a:r>
                        <a:rPr lang="en-US" sz="1200"/>
                        <a:t>TPR_No</a:t>
                      </a:r>
                    </a:p>
                  </a:txBody>
                  <a:tcPr anchor="ctr"/>
                </a:tc>
                <a:tc>
                  <a:txBody>
                    <a:bodyPr/>
                    <a:lstStyle/>
                    <a:p>
                      <a:pPr>
                        <a:buNone/>
                      </a:pPr>
                      <a:r>
                        <a:rPr lang="en-US" sz="1200"/>
                        <a:t>TPR_Yes</a:t>
                      </a:r>
                    </a:p>
                  </a:txBody>
                  <a:tcPr anchor="ctr"/>
                </a:tc>
                <a:tc>
                  <a:txBody>
                    <a:bodyPr/>
                    <a:lstStyle/>
                    <a:p>
                      <a:pPr>
                        <a:buNone/>
                      </a:pPr>
                      <a:r>
                        <a:rPr lang="en-US" sz="1200" dirty="0"/>
                        <a:t>ROC</a:t>
                      </a:r>
                    </a:p>
                  </a:txBody>
                  <a:tcPr anchor="ctr"/>
                </a:tc>
                <a:tc>
                  <a:txBody>
                    <a:bodyPr/>
                    <a:lstStyle/>
                    <a:p>
                      <a:pPr>
                        <a:buNone/>
                      </a:pPr>
                      <a:r>
                        <a:rPr lang="en-US" sz="1200"/>
                        <a:t>F1_Yes</a:t>
                      </a:r>
                    </a:p>
                  </a:txBody>
                  <a:tcPr anchor="ctr"/>
                </a:tc>
                <a:tc>
                  <a:txBody>
                    <a:bodyPr/>
                    <a:lstStyle/>
                    <a:p>
                      <a:pPr>
                        <a:buNone/>
                      </a:pPr>
                      <a:r>
                        <a:rPr lang="en-US" sz="1200"/>
                        <a:t>MCC</a:t>
                      </a:r>
                    </a:p>
                  </a:txBody>
                  <a:tcPr anchor="ctr"/>
                </a:tc>
                <a:tc>
                  <a:txBody>
                    <a:bodyPr/>
                    <a:lstStyle/>
                    <a:p>
                      <a:pPr>
                        <a:buNone/>
                      </a:pPr>
                      <a:r>
                        <a:rPr lang="en-US" sz="1200"/>
                        <a:t>Kappa</a:t>
                      </a:r>
                    </a:p>
                  </a:txBody>
                  <a:tcPr anchor="ctr"/>
                </a:tc>
                <a:extLst>
                  <a:ext uri="{0D108BD9-81ED-4DB2-BD59-A6C34878D82A}">
                    <a16:rowId xmlns:a16="http://schemas.microsoft.com/office/drawing/2014/main" val="1370235553"/>
                  </a:ext>
                </a:extLst>
              </a:tr>
              <a:tr h="575232">
                <a:tc>
                  <a:txBody>
                    <a:bodyPr/>
                    <a:lstStyle/>
                    <a:p>
                      <a:pPr>
                        <a:buNone/>
                      </a:pPr>
                      <a:r>
                        <a:rPr lang="en-US" sz="1200" b="1"/>
                        <a:t>1</a:t>
                      </a:r>
                      <a:endParaRPr lang="en-US" sz="1200"/>
                    </a:p>
                  </a:txBody>
                  <a:tcPr anchor="ctr"/>
                </a:tc>
                <a:tc>
                  <a:txBody>
                    <a:bodyPr/>
                    <a:lstStyle/>
                    <a:p>
                      <a:pPr>
                        <a:buNone/>
                      </a:pPr>
                      <a:r>
                        <a:rPr lang="en-US" sz="1200" b="1" dirty="0"/>
                        <a:t>Up + </a:t>
                      </a:r>
                      <a:r>
                        <a:rPr lang="en-US" sz="1200" b="1" dirty="0" err="1"/>
                        <a:t>XGBoost</a:t>
                      </a:r>
                      <a:endParaRPr lang="en-US" sz="1200" dirty="0"/>
                    </a:p>
                  </a:txBody>
                  <a:tcPr anchor="ctr"/>
                </a:tc>
                <a:tc>
                  <a:txBody>
                    <a:bodyPr/>
                    <a:lstStyle/>
                    <a:p>
                      <a:pPr>
                        <a:buNone/>
                      </a:pPr>
                      <a:r>
                        <a:rPr lang="en-US" sz="1200" b="1"/>
                        <a:t>0.8631</a:t>
                      </a:r>
                      <a:endParaRPr lang="en-US" sz="1200"/>
                    </a:p>
                  </a:txBody>
                  <a:tcPr anchor="ctr"/>
                </a:tc>
                <a:tc>
                  <a:txBody>
                    <a:bodyPr/>
                    <a:lstStyle/>
                    <a:p>
                      <a:pPr>
                        <a:buNone/>
                      </a:pPr>
                      <a:r>
                        <a:rPr lang="en-US" sz="1200" b="1"/>
                        <a:t>0.7566</a:t>
                      </a:r>
                      <a:endParaRPr lang="en-US" sz="1200"/>
                    </a:p>
                  </a:txBody>
                  <a:tcPr anchor="ctr"/>
                </a:tc>
                <a:tc>
                  <a:txBody>
                    <a:bodyPr/>
                    <a:lstStyle/>
                    <a:p>
                      <a:pPr>
                        <a:buNone/>
                      </a:pPr>
                      <a:r>
                        <a:rPr lang="en-US" sz="1200" b="1"/>
                        <a:t>0.8798</a:t>
                      </a:r>
                      <a:endParaRPr lang="en-US" sz="1200"/>
                    </a:p>
                  </a:txBody>
                  <a:tcPr anchor="ctr"/>
                </a:tc>
                <a:tc>
                  <a:txBody>
                    <a:bodyPr/>
                    <a:lstStyle/>
                    <a:p>
                      <a:pPr>
                        <a:buNone/>
                      </a:pPr>
                      <a:r>
                        <a:rPr lang="en-US" sz="1200" b="1"/>
                        <a:t>0.5111</a:t>
                      </a:r>
                      <a:endParaRPr lang="en-US" sz="1200"/>
                    </a:p>
                  </a:txBody>
                  <a:tcPr anchor="ctr"/>
                </a:tc>
                <a:tc>
                  <a:txBody>
                    <a:bodyPr/>
                    <a:lstStyle/>
                    <a:p>
                      <a:pPr>
                        <a:buNone/>
                      </a:pPr>
                      <a:r>
                        <a:rPr lang="en-US" sz="1200" b="1"/>
                        <a:t>0.4689</a:t>
                      </a:r>
                      <a:endParaRPr lang="en-US" sz="1200"/>
                    </a:p>
                  </a:txBody>
                  <a:tcPr anchor="ctr"/>
                </a:tc>
                <a:tc>
                  <a:txBody>
                    <a:bodyPr/>
                    <a:lstStyle/>
                    <a:p>
                      <a:pPr>
                        <a:buNone/>
                      </a:pPr>
                      <a:r>
                        <a:rPr lang="en-US" sz="1200" b="1"/>
                        <a:t>0.4347</a:t>
                      </a:r>
                      <a:endParaRPr lang="en-US" sz="1200"/>
                    </a:p>
                  </a:txBody>
                  <a:tcPr anchor="ctr"/>
                </a:tc>
                <a:extLst>
                  <a:ext uri="{0D108BD9-81ED-4DB2-BD59-A6C34878D82A}">
                    <a16:rowId xmlns:a16="http://schemas.microsoft.com/office/drawing/2014/main" val="31074102"/>
                  </a:ext>
                </a:extLst>
              </a:tr>
              <a:tr h="869537">
                <a:tc>
                  <a:txBody>
                    <a:bodyPr/>
                    <a:lstStyle/>
                    <a:p>
                      <a:pPr>
                        <a:buNone/>
                      </a:pPr>
                      <a:r>
                        <a:rPr lang="en-US" sz="1200"/>
                        <a:t>2</a:t>
                      </a:r>
                    </a:p>
                  </a:txBody>
                  <a:tcPr anchor="ctr"/>
                </a:tc>
                <a:tc>
                  <a:txBody>
                    <a:bodyPr/>
                    <a:lstStyle/>
                    <a:p>
                      <a:pPr>
                        <a:buNone/>
                      </a:pPr>
                      <a:r>
                        <a:rPr lang="en-US" sz="1200" dirty="0"/>
                        <a:t>Down + </a:t>
                      </a:r>
                      <a:r>
                        <a:rPr lang="en-US" sz="1200" dirty="0" err="1"/>
                        <a:t>XGBoost</a:t>
                      </a:r>
                      <a:endParaRPr lang="en-US" sz="1200" dirty="0"/>
                    </a:p>
                  </a:txBody>
                  <a:tcPr anchor="ctr"/>
                </a:tc>
                <a:tc>
                  <a:txBody>
                    <a:bodyPr/>
                    <a:lstStyle/>
                    <a:p>
                      <a:pPr>
                        <a:buNone/>
                      </a:pPr>
                      <a:r>
                        <a:rPr lang="en-US" sz="1200"/>
                        <a:t>0.8362</a:t>
                      </a:r>
                    </a:p>
                  </a:txBody>
                  <a:tcPr anchor="ctr"/>
                </a:tc>
                <a:tc>
                  <a:txBody>
                    <a:bodyPr/>
                    <a:lstStyle/>
                    <a:p>
                      <a:pPr>
                        <a:buNone/>
                      </a:pPr>
                      <a:r>
                        <a:rPr lang="en-US" sz="1200"/>
                        <a:t>0.7763</a:t>
                      </a:r>
                    </a:p>
                  </a:txBody>
                  <a:tcPr anchor="ctr"/>
                </a:tc>
                <a:tc>
                  <a:txBody>
                    <a:bodyPr/>
                    <a:lstStyle/>
                    <a:p>
                      <a:pPr>
                        <a:buNone/>
                      </a:pPr>
                      <a:r>
                        <a:rPr lang="en-US" sz="1200"/>
                        <a:t>0.8756</a:t>
                      </a:r>
                    </a:p>
                  </a:txBody>
                  <a:tcPr anchor="ctr"/>
                </a:tc>
                <a:tc>
                  <a:txBody>
                    <a:bodyPr/>
                    <a:lstStyle/>
                    <a:p>
                      <a:pPr>
                        <a:buNone/>
                      </a:pPr>
                      <a:r>
                        <a:rPr lang="en-US" sz="1200"/>
                        <a:t>0.4826</a:t>
                      </a:r>
                    </a:p>
                  </a:txBody>
                  <a:tcPr anchor="ctr"/>
                </a:tc>
                <a:tc>
                  <a:txBody>
                    <a:bodyPr/>
                    <a:lstStyle/>
                    <a:p>
                      <a:pPr>
                        <a:buNone/>
                      </a:pPr>
                      <a:r>
                        <a:rPr lang="en-US" sz="1200"/>
                        <a:t>0.4431</a:t>
                      </a:r>
                    </a:p>
                  </a:txBody>
                  <a:tcPr anchor="ctr"/>
                </a:tc>
                <a:tc>
                  <a:txBody>
                    <a:bodyPr/>
                    <a:lstStyle/>
                    <a:p>
                      <a:pPr>
                        <a:buNone/>
                      </a:pPr>
                      <a:r>
                        <a:rPr lang="en-US" sz="1200"/>
                        <a:t>0.3979</a:t>
                      </a:r>
                    </a:p>
                  </a:txBody>
                  <a:tcPr anchor="ctr"/>
                </a:tc>
                <a:extLst>
                  <a:ext uri="{0D108BD9-81ED-4DB2-BD59-A6C34878D82A}">
                    <a16:rowId xmlns:a16="http://schemas.microsoft.com/office/drawing/2014/main" val="553038728"/>
                  </a:ext>
                </a:extLst>
              </a:tr>
              <a:tr h="668875">
                <a:tc>
                  <a:txBody>
                    <a:bodyPr/>
                    <a:lstStyle/>
                    <a:p>
                      <a:pPr>
                        <a:buNone/>
                      </a:pPr>
                      <a:r>
                        <a:rPr lang="en-US" sz="1200"/>
                        <a:t>3</a:t>
                      </a:r>
                    </a:p>
                  </a:txBody>
                  <a:tcPr anchor="ctr"/>
                </a:tc>
                <a:tc>
                  <a:txBody>
                    <a:bodyPr/>
                    <a:lstStyle/>
                    <a:p>
                      <a:pPr>
                        <a:buNone/>
                      </a:pPr>
                      <a:r>
                        <a:rPr lang="en-US" sz="1200"/>
                        <a:t>Up + Logistic</a:t>
                      </a:r>
                    </a:p>
                  </a:txBody>
                  <a:tcPr anchor="ctr"/>
                </a:tc>
                <a:tc>
                  <a:txBody>
                    <a:bodyPr/>
                    <a:lstStyle/>
                    <a:p>
                      <a:pPr>
                        <a:buNone/>
                      </a:pPr>
                      <a:r>
                        <a:rPr lang="en-US" sz="1200" dirty="0"/>
                        <a:t>0.8459</a:t>
                      </a:r>
                    </a:p>
                  </a:txBody>
                  <a:tcPr anchor="ctr"/>
                </a:tc>
                <a:tc>
                  <a:txBody>
                    <a:bodyPr/>
                    <a:lstStyle/>
                    <a:p>
                      <a:pPr>
                        <a:buNone/>
                      </a:pPr>
                      <a:r>
                        <a:rPr lang="en-US" sz="1200" dirty="0"/>
                        <a:t>0.7434</a:t>
                      </a:r>
                    </a:p>
                  </a:txBody>
                  <a:tcPr anchor="ctr"/>
                </a:tc>
                <a:tc>
                  <a:txBody>
                    <a:bodyPr/>
                    <a:lstStyle/>
                    <a:p>
                      <a:pPr>
                        <a:buNone/>
                      </a:pPr>
                      <a:r>
                        <a:rPr lang="en-US" sz="1200" dirty="0"/>
                        <a:t>0.8663</a:t>
                      </a:r>
                    </a:p>
                  </a:txBody>
                  <a:tcPr anchor="ctr"/>
                </a:tc>
                <a:tc>
                  <a:txBody>
                    <a:bodyPr/>
                    <a:lstStyle/>
                    <a:p>
                      <a:pPr>
                        <a:buNone/>
                      </a:pPr>
                      <a:r>
                        <a:rPr lang="en-US" sz="1200"/>
                        <a:t>0.4798</a:t>
                      </a:r>
                    </a:p>
                  </a:txBody>
                  <a:tcPr anchor="ctr"/>
                </a:tc>
                <a:tc>
                  <a:txBody>
                    <a:bodyPr/>
                    <a:lstStyle/>
                    <a:p>
                      <a:pPr>
                        <a:buNone/>
                      </a:pPr>
                      <a:r>
                        <a:rPr lang="en-US" sz="1200" dirty="0"/>
                        <a:t>0.4349</a:t>
                      </a:r>
                    </a:p>
                  </a:txBody>
                  <a:tcPr anchor="ctr"/>
                </a:tc>
                <a:tc>
                  <a:txBody>
                    <a:bodyPr/>
                    <a:lstStyle/>
                    <a:p>
                      <a:pPr>
                        <a:buNone/>
                      </a:pPr>
                      <a:r>
                        <a:rPr lang="en-US" sz="1200"/>
                        <a:t>0.3964</a:t>
                      </a:r>
                    </a:p>
                  </a:txBody>
                  <a:tcPr anchor="ctr"/>
                </a:tc>
                <a:extLst>
                  <a:ext uri="{0D108BD9-81ED-4DB2-BD59-A6C34878D82A}">
                    <a16:rowId xmlns:a16="http://schemas.microsoft.com/office/drawing/2014/main" val="377612986"/>
                  </a:ext>
                </a:extLst>
              </a:tr>
              <a:tr h="869537">
                <a:tc>
                  <a:txBody>
                    <a:bodyPr/>
                    <a:lstStyle/>
                    <a:p>
                      <a:pPr>
                        <a:buNone/>
                      </a:pPr>
                      <a:r>
                        <a:rPr lang="en-US" sz="1200"/>
                        <a:t>4</a:t>
                      </a:r>
                    </a:p>
                  </a:txBody>
                  <a:tcPr anchor="ctr"/>
                </a:tc>
                <a:tc>
                  <a:txBody>
                    <a:bodyPr/>
                    <a:lstStyle/>
                    <a:p>
                      <a:pPr>
                        <a:buNone/>
                      </a:pPr>
                      <a:r>
                        <a:rPr lang="en-US" sz="1200"/>
                        <a:t>Down + Logistic</a:t>
                      </a:r>
                    </a:p>
                  </a:txBody>
                  <a:tcPr anchor="ctr"/>
                </a:tc>
                <a:tc>
                  <a:txBody>
                    <a:bodyPr/>
                    <a:lstStyle/>
                    <a:p>
                      <a:pPr>
                        <a:buNone/>
                      </a:pPr>
                      <a:r>
                        <a:rPr lang="en-US" sz="1200"/>
                        <a:t>0.8160</a:t>
                      </a:r>
                    </a:p>
                  </a:txBody>
                  <a:tcPr anchor="ctr"/>
                </a:tc>
                <a:tc>
                  <a:txBody>
                    <a:bodyPr/>
                    <a:lstStyle/>
                    <a:p>
                      <a:pPr>
                        <a:buNone/>
                      </a:pPr>
                      <a:r>
                        <a:rPr lang="en-US" sz="1200" dirty="0"/>
                        <a:t>0.7434</a:t>
                      </a:r>
                    </a:p>
                  </a:txBody>
                  <a:tcPr anchor="ctr"/>
                </a:tc>
                <a:tc>
                  <a:txBody>
                    <a:bodyPr/>
                    <a:lstStyle/>
                    <a:p>
                      <a:pPr>
                        <a:buNone/>
                      </a:pPr>
                      <a:r>
                        <a:rPr lang="en-US" sz="1200"/>
                        <a:t>0.8509</a:t>
                      </a:r>
                    </a:p>
                  </a:txBody>
                  <a:tcPr anchor="ctr"/>
                </a:tc>
                <a:tc>
                  <a:txBody>
                    <a:bodyPr/>
                    <a:lstStyle/>
                    <a:p>
                      <a:pPr>
                        <a:buNone/>
                      </a:pPr>
                      <a:r>
                        <a:rPr lang="en-US" sz="1200" dirty="0"/>
                        <a:t>0.4423</a:t>
                      </a:r>
                    </a:p>
                  </a:txBody>
                  <a:tcPr anchor="ctr"/>
                </a:tc>
                <a:tc>
                  <a:txBody>
                    <a:bodyPr/>
                    <a:lstStyle/>
                    <a:p>
                      <a:pPr>
                        <a:buNone/>
                      </a:pPr>
                      <a:r>
                        <a:rPr lang="en-US" sz="1200" dirty="0"/>
                        <a:t>0.3960</a:t>
                      </a:r>
                    </a:p>
                  </a:txBody>
                  <a:tcPr anchor="ctr"/>
                </a:tc>
                <a:tc>
                  <a:txBody>
                    <a:bodyPr/>
                    <a:lstStyle/>
                    <a:p>
                      <a:pPr>
                        <a:buNone/>
                      </a:pPr>
                      <a:r>
                        <a:rPr lang="en-US" sz="1200" dirty="0"/>
                        <a:t>0.3489</a:t>
                      </a:r>
                    </a:p>
                  </a:txBody>
                  <a:tcPr anchor="ctr"/>
                </a:tc>
                <a:extLst>
                  <a:ext uri="{0D108BD9-81ED-4DB2-BD59-A6C34878D82A}">
                    <a16:rowId xmlns:a16="http://schemas.microsoft.com/office/drawing/2014/main" val="3470419574"/>
                  </a:ext>
                </a:extLst>
              </a:tr>
            </a:tbl>
          </a:graphicData>
        </a:graphic>
      </p:graphicFrame>
    </p:spTree>
    <p:extLst>
      <p:ext uri="{BB962C8B-B14F-4D97-AF65-F5344CB8AC3E}">
        <p14:creationId xmlns:p14="http://schemas.microsoft.com/office/powerpoint/2010/main" val="1111240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0F96F-C5B3-F84C-0417-C03D1ED68FA4}"/>
              </a:ext>
            </a:extLst>
          </p:cNvPr>
          <p:cNvSpPr>
            <a:spLocks noGrp="1"/>
          </p:cNvSpPr>
          <p:nvPr>
            <p:ph type="title"/>
          </p:nvPr>
        </p:nvSpPr>
        <p:spPr/>
        <p:txBody>
          <a:bodyPr/>
          <a:lstStyle/>
          <a:p>
            <a:r>
              <a:rPr lang="en-US" dirty="0"/>
              <a:t>ROC Curve</a:t>
            </a:r>
          </a:p>
        </p:txBody>
      </p:sp>
      <p:sp>
        <p:nvSpPr>
          <p:cNvPr id="3" name="Content Placeholder 2">
            <a:extLst>
              <a:ext uri="{FF2B5EF4-FFF2-40B4-BE49-F238E27FC236}">
                <a16:creationId xmlns:a16="http://schemas.microsoft.com/office/drawing/2014/main" id="{E5557531-7DBE-97FD-4BAA-1DB20DBA23DF}"/>
              </a:ext>
            </a:extLst>
          </p:cNvPr>
          <p:cNvSpPr>
            <a:spLocks noGrp="1"/>
          </p:cNvSpPr>
          <p:nvPr>
            <p:ph idx="1"/>
          </p:nvPr>
        </p:nvSpPr>
        <p:spPr>
          <a:xfrm>
            <a:off x="1097280" y="2084450"/>
            <a:ext cx="4124425" cy="3786961"/>
          </a:xfrm>
        </p:spPr>
        <p:txBody>
          <a:bodyPr>
            <a:normAutofit lnSpcReduction="10000"/>
          </a:bodyPr>
          <a:lstStyle/>
          <a:p>
            <a:r>
              <a:rPr lang="en-US" dirty="0">
                <a:latin typeface="Times New Roman" panose="02020603050405020304" pitchFamily="18" charset="0"/>
                <a:cs typeface="Times New Roman" panose="02020603050405020304" pitchFamily="18" charset="0"/>
              </a:rPr>
              <a:t>The ROC curve is well above the diagonal baseline, confirming the model has strong discriminative power beyond random guessing. </a:t>
            </a:r>
          </a:p>
          <a:p>
            <a:r>
              <a:rPr lang="en-US" dirty="0">
                <a:latin typeface="Times New Roman" panose="02020603050405020304" pitchFamily="18" charset="0"/>
                <a:cs typeface="Times New Roman" panose="02020603050405020304" pitchFamily="18" charset="0"/>
              </a:rPr>
              <a:t>Also, the curve’s shape and distance from 45-degree line suggest the model generalizes well, without overfitting to odd patterns in training.  </a:t>
            </a:r>
          </a:p>
          <a:p>
            <a:r>
              <a:rPr lang="en-US" dirty="0">
                <a:latin typeface="Times New Roman" panose="02020603050405020304" pitchFamily="18" charset="0"/>
                <a:cs typeface="Times New Roman" panose="02020603050405020304" pitchFamily="18" charset="0"/>
              </a:rPr>
              <a:t>The AUC 0.88 confirms that the model has excellent overall ability to rank-order positive vs negative cases.</a:t>
            </a:r>
          </a:p>
        </p:txBody>
      </p:sp>
      <p:pic>
        <p:nvPicPr>
          <p:cNvPr id="6" name="Picture 5">
            <a:extLst>
              <a:ext uri="{FF2B5EF4-FFF2-40B4-BE49-F238E27FC236}">
                <a16:creationId xmlns:a16="http://schemas.microsoft.com/office/drawing/2014/main" id="{B71C74B1-4AD9-D77B-9FEC-DB34B95B663B}"/>
              </a:ext>
            </a:extLst>
          </p:cNvPr>
          <p:cNvPicPr>
            <a:picLocks noChangeAspect="1"/>
          </p:cNvPicPr>
          <p:nvPr/>
        </p:nvPicPr>
        <p:blipFill>
          <a:blip r:embed="rId3"/>
          <a:stretch>
            <a:fillRect/>
          </a:stretch>
        </p:blipFill>
        <p:spPr>
          <a:xfrm>
            <a:off x="8253203" y="2397054"/>
            <a:ext cx="3374264" cy="3065283"/>
          </a:xfrm>
          <a:prstGeom prst="rect">
            <a:avLst/>
          </a:prstGeom>
        </p:spPr>
      </p:pic>
      <p:pic>
        <p:nvPicPr>
          <p:cNvPr id="7" name="Picture 6">
            <a:extLst>
              <a:ext uri="{FF2B5EF4-FFF2-40B4-BE49-F238E27FC236}">
                <a16:creationId xmlns:a16="http://schemas.microsoft.com/office/drawing/2014/main" id="{E6EE0EC2-1BB7-CB6B-0ED5-CFAA4884FBC5}"/>
              </a:ext>
            </a:extLst>
          </p:cNvPr>
          <p:cNvPicPr>
            <a:picLocks noChangeAspect="1"/>
          </p:cNvPicPr>
          <p:nvPr/>
        </p:nvPicPr>
        <p:blipFill>
          <a:blip r:embed="rId4"/>
          <a:stretch>
            <a:fillRect/>
          </a:stretch>
        </p:blipFill>
        <p:spPr>
          <a:xfrm>
            <a:off x="5185491" y="2457605"/>
            <a:ext cx="3103926" cy="3040649"/>
          </a:xfrm>
          <a:prstGeom prst="rect">
            <a:avLst/>
          </a:prstGeom>
        </p:spPr>
      </p:pic>
    </p:spTree>
    <p:extLst>
      <p:ext uri="{BB962C8B-B14F-4D97-AF65-F5344CB8AC3E}">
        <p14:creationId xmlns:p14="http://schemas.microsoft.com/office/powerpoint/2010/main" val="2918813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C5579-653C-914E-E036-FE0D7C9688FE}"/>
              </a:ext>
            </a:extLst>
          </p:cNvPr>
          <p:cNvSpPr>
            <a:spLocks noGrp="1"/>
          </p:cNvSpPr>
          <p:nvPr>
            <p:ph type="title"/>
          </p:nvPr>
        </p:nvSpPr>
        <p:spPr/>
        <p:txBody>
          <a:bodyPr/>
          <a:lstStyle/>
          <a:p>
            <a:r>
              <a:rPr lang="en-US" dirty="0"/>
              <a:t>Feature Importance – What Drives the Model</a:t>
            </a:r>
          </a:p>
        </p:txBody>
      </p:sp>
      <p:sp>
        <p:nvSpPr>
          <p:cNvPr id="3" name="Content Placeholder 2">
            <a:extLst>
              <a:ext uri="{FF2B5EF4-FFF2-40B4-BE49-F238E27FC236}">
                <a16:creationId xmlns:a16="http://schemas.microsoft.com/office/drawing/2014/main" id="{26A9B476-BABD-9058-738E-ADBC5BDE1983}"/>
              </a:ext>
            </a:extLst>
          </p:cNvPr>
          <p:cNvSpPr>
            <a:spLocks noGrp="1"/>
          </p:cNvSpPr>
          <p:nvPr>
            <p:ph idx="1"/>
          </p:nvPr>
        </p:nvSpPr>
        <p:spPr>
          <a:xfrm>
            <a:off x="1097280" y="2108201"/>
            <a:ext cx="3719649" cy="3694346"/>
          </a:xfrm>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Top Predictors: The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model provides feature importance scores, revealing which inputs most influence the predictions. </a:t>
            </a:r>
          </a:p>
          <a:p>
            <a:r>
              <a:rPr lang="en-US" dirty="0">
                <a:latin typeface="Times New Roman" panose="02020603050405020304" pitchFamily="18" charset="0"/>
                <a:cs typeface="Times New Roman" panose="02020603050405020304" pitchFamily="18" charset="0"/>
              </a:rPr>
              <a:t>DISAB5_C – A consistent top feature across both models, flagging some form of disability.</a:t>
            </a:r>
          </a:p>
          <a:p>
            <a:r>
              <a:rPr lang="en-US" dirty="0">
                <a:latin typeface="Times New Roman" panose="02020603050405020304" pitchFamily="18" charset="0"/>
                <a:cs typeface="Times New Roman" panose="02020603050405020304" pitchFamily="18" charset="0"/>
              </a:rPr>
              <a:t>BEHDFCHG_C – Strongly predictive of behavioral change difficulties.</a:t>
            </a:r>
          </a:p>
          <a:p>
            <a:r>
              <a:rPr lang="en-US" dirty="0">
                <a:latin typeface="Times New Roman" panose="02020603050405020304" pitchFamily="18" charset="0"/>
                <a:cs typeface="Times New Roman" panose="02020603050405020304" pitchFamily="18" charset="0"/>
              </a:rPr>
              <a:t>SCHSPEDEM_C – Indicates special education or medical needs.</a:t>
            </a:r>
          </a:p>
          <a:p>
            <a:r>
              <a:rPr lang="en-US" dirty="0">
                <a:latin typeface="Times New Roman" panose="02020603050405020304" pitchFamily="18" charset="0"/>
                <a:cs typeface="Times New Roman" panose="02020603050405020304" pitchFamily="18" charset="0"/>
              </a:rPr>
              <a:t>BEHDFFCS_C – Suggests trouble with family/peer interaction.</a:t>
            </a:r>
          </a:p>
          <a:p>
            <a:r>
              <a:rPr lang="en-US" dirty="0">
                <a:latin typeface="Times New Roman" panose="02020603050405020304" pitchFamily="18" charset="0"/>
                <a:cs typeface="Times New Roman" panose="02020603050405020304" pitchFamily="18" charset="0"/>
              </a:rPr>
              <a:t>UNDSTROHH_C –Speech clarity issues, which means how often other people have difficulty understanding child’s speech..</a:t>
            </a:r>
          </a:p>
        </p:txBody>
      </p:sp>
      <p:pic>
        <p:nvPicPr>
          <p:cNvPr id="4" name="Picture 3">
            <a:extLst>
              <a:ext uri="{FF2B5EF4-FFF2-40B4-BE49-F238E27FC236}">
                <a16:creationId xmlns:a16="http://schemas.microsoft.com/office/drawing/2014/main" id="{A21E0EEA-394D-E406-8E26-E48C9D30BCF6}"/>
              </a:ext>
            </a:extLst>
          </p:cNvPr>
          <p:cNvPicPr>
            <a:picLocks noChangeAspect="1"/>
          </p:cNvPicPr>
          <p:nvPr/>
        </p:nvPicPr>
        <p:blipFill>
          <a:blip r:embed="rId3"/>
          <a:stretch>
            <a:fillRect/>
          </a:stretch>
        </p:blipFill>
        <p:spPr>
          <a:xfrm>
            <a:off x="4898571" y="2283543"/>
            <a:ext cx="3354027" cy="3363938"/>
          </a:xfrm>
          <a:prstGeom prst="rect">
            <a:avLst/>
          </a:prstGeom>
        </p:spPr>
      </p:pic>
      <p:sp>
        <p:nvSpPr>
          <p:cNvPr id="5" name="AutoShape 2">
            <a:extLst>
              <a:ext uri="{FF2B5EF4-FFF2-40B4-BE49-F238E27FC236}">
                <a16:creationId xmlns:a16="http://schemas.microsoft.com/office/drawing/2014/main" id="{2A1F2987-D250-EE61-9E33-FFF3DCF6971F}"/>
              </a:ext>
            </a:extLst>
          </p:cNvPr>
          <p:cNvSpPr>
            <a:spLocks noChangeAspect="1" noChangeArrowheads="1"/>
          </p:cNvSpPr>
          <p:nvPr/>
        </p:nvSpPr>
        <p:spPr bwMode="auto">
          <a:xfrm>
            <a:off x="5943600" y="3264725"/>
            <a:ext cx="2830286" cy="283028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B685EE61-1C5F-FDBF-4871-5F0AE6AC4D91}"/>
              </a:ext>
            </a:extLst>
          </p:cNvPr>
          <p:cNvPicPr>
            <a:picLocks noChangeAspect="1"/>
          </p:cNvPicPr>
          <p:nvPr/>
        </p:nvPicPr>
        <p:blipFill>
          <a:blip r:embed="rId4"/>
          <a:stretch>
            <a:fillRect/>
          </a:stretch>
        </p:blipFill>
        <p:spPr>
          <a:xfrm>
            <a:off x="8334240" y="2108201"/>
            <a:ext cx="3771227" cy="3694346"/>
          </a:xfrm>
          <a:prstGeom prst="rect">
            <a:avLst/>
          </a:prstGeom>
        </p:spPr>
      </p:pic>
    </p:spTree>
    <p:extLst>
      <p:ext uri="{BB962C8B-B14F-4D97-AF65-F5344CB8AC3E}">
        <p14:creationId xmlns:p14="http://schemas.microsoft.com/office/powerpoint/2010/main" val="2093123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83B11-971A-DE8D-74A4-3EE7A6421D54}"/>
              </a:ext>
            </a:extLst>
          </p:cNvPr>
          <p:cNvSpPr>
            <a:spLocks noGrp="1"/>
          </p:cNvSpPr>
          <p:nvPr>
            <p:ph type="title"/>
          </p:nvPr>
        </p:nvSpPr>
        <p:spPr/>
        <p:txBody>
          <a:bodyPr/>
          <a:lstStyle/>
          <a:p>
            <a:r>
              <a:rPr lang="en-US" dirty="0"/>
              <a:t>Algorithm Comparison </a:t>
            </a:r>
          </a:p>
        </p:txBody>
      </p:sp>
      <p:sp>
        <p:nvSpPr>
          <p:cNvPr id="3" name="Content Placeholder 2">
            <a:extLst>
              <a:ext uri="{FF2B5EF4-FFF2-40B4-BE49-F238E27FC236}">
                <a16:creationId xmlns:a16="http://schemas.microsoft.com/office/drawing/2014/main" id="{3E52A6EA-04FD-27A9-7CD2-9F36451BE31F}"/>
              </a:ext>
            </a:extLst>
          </p:cNvPr>
          <p:cNvSpPr>
            <a:spLocks noGrp="1"/>
          </p:cNvSpPr>
          <p:nvPr>
            <p:ph idx="1"/>
          </p:nvPr>
        </p:nvSpPr>
        <p:spPr/>
        <p:txBody>
          <a:bodyPr>
            <a:normAutofit fontScale="92500"/>
          </a:bodyPr>
          <a:lstStyle/>
          <a:p>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Dominance:  Across the board,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models tended to outperform others, regardless of sampling method. The ensemble approach with boosting provide the best balance of higher recall for Yes while controlling FP for No. </a:t>
            </a:r>
          </a:p>
          <a:p>
            <a:r>
              <a:rPr lang="en-US" dirty="0">
                <a:latin typeface="Times New Roman" panose="02020603050405020304" pitchFamily="18" charset="0"/>
                <a:cs typeface="Times New Roman" panose="02020603050405020304" pitchFamily="18" charset="0"/>
              </a:rPr>
              <a:t>Strong Baselines: Bagging and logistic Regression proved to be very reliable second tier models. Bagging helped stabilize the high-variance nature of individual trees and produced balanced performance.</a:t>
            </a:r>
          </a:p>
          <a:p>
            <a:r>
              <a:rPr lang="en-US" dirty="0">
                <a:latin typeface="Times New Roman" panose="02020603050405020304" pitchFamily="18" charset="0"/>
                <a:cs typeface="Times New Roman" panose="02020603050405020304" pitchFamily="18" charset="0"/>
              </a:rPr>
              <a:t>Random forest did well overall but showed some instability especially with NM1, likely due to losing diversity in data. SVM and the neural network benefited from having more minority examples. </a:t>
            </a:r>
          </a:p>
          <a:p>
            <a:r>
              <a:rPr lang="en-US" dirty="0">
                <a:latin typeface="Times New Roman" panose="02020603050405020304" pitchFamily="18" charset="0"/>
                <a:cs typeface="Times New Roman" panose="02020603050405020304" pitchFamily="18" charset="0"/>
              </a:rPr>
              <a:t>Naïve Bayes and k-NN were consistently outperformed by other models, because its independence assumption broke down with our many correlated features, and they also suffered with high dimensionality and the curse of distance. </a:t>
            </a:r>
          </a:p>
        </p:txBody>
      </p:sp>
    </p:spTree>
    <p:extLst>
      <p:ext uri="{BB962C8B-B14F-4D97-AF65-F5344CB8AC3E}">
        <p14:creationId xmlns:p14="http://schemas.microsoft.com/office/powerpoint/2010/main" val="3411618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3062F-24E2-983D-F607-151B0515F4B1}"/>
              </a:ext>
            </a:extLst>
          </p:cNvPr>
          <p:cNvSpPr>
            <a:spLocks noGrp="1"/>
          </p:cNvSpPr>
          <p:nvPr>
            <p:ph type="title"/>
          </p:nvPr>
        </p:nvSpPr>
        <p:spPr/>
        <p:txBody>
          <a:bodyPr/>
          <a:lstStyle/>
          <a:p>
            <a:r>
              <a:rPr lang="en-US" dirty="0"/>
              <a:t>Impact of Balancing Strategies</a:t>
            </a:r>
          </a:p>
        </p:txBody>
      </p:sp>
      <p:sp>
        <p:nvSpPr>
          <p:cNvPr id="3" name="Content Placeholder 2">
            <a:extLst>
              <a:ext uri="{FF2B5EF4-FFF2-40B4-BE49-F238E27FC236}">
                <a16:creationId xmlns:a16="http://schemas.microsoft.com/office/drawing/2014/main" id="{B23441D7-EFDC-72B9-57F1-704B82FD5A66}"/>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Downsampling:  Training on a down-sampled dataset yielded models that generalized to the test set. By training on an evenly reduced dataset, models like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Bagging could focus on truly discriminative patterns without being distracted by majority data.</a:t>
            </a:r>
          </a:p>
          <a:p>
            <a:r>
              <a:rPr lang="en-US" dirty="0">
                <a:latin typeface="Times New Roman" panose="02020603050405020304" pitchFamily="18" charset="0"/>
                <a:cs typeface="Times New Roman" panose="02020603050405020304" pitchFamily="18" charset="0"/>
              </a:rPr>
              <a:t>Upsampling: It improved recall for the minority class in many models. It also gave us our best working models by increasing the minority class and balancing the dataset for both, it helped model to learn nicely the Yes values and it also enhanced Kappa a lot with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logistic regression</a:t>
            </a:r>
          </a:p>
          <a:p>
            <a:r>
              <a:rPr lang="en-US" dirty="0">
                <a:latin typeface="Times New Roman" panose="02020603050405020304" pitchFamily="18" charset="0"/>
                <a:cs typeface="Times New Roman" panose="02020603050405020304" pitchFamily="18" charset="0"/>
              </a:rPr>
              <a:t>Synthetic Oversampling: The synthetic jitter approach gave a richer set of minority examples, which enhanced sensitivity/recall and sometimes AUC for models. But we observed that if the synthetic points were too far from real data, then they don’t give that much learning to our model</a:t>
            </a:r>
          </a:p>
          <a:p>
            <a:r>
              <a:rPr lang="en-US" dirty="0">
                <a:latin typeface="Times New Roman" panose="02020603050405020304" pitchFamily="18" charset="0"/>
                <a:cs typeface="Times New Roman" panose="02020603050405020304" pitchFamily="18" charset="0"/>
              </a:rPr>
              <a:t>NearMiss-1: NearMiss undersampling made the training data very focused on difficult “borderline” examples. This benefited methods like k-NN and SVM that rely on distance,. </a:t>
            </a:r>
          </a:p>
        </p:txBody>
      </p:sp>
    </p:spTree>
    <p:extLst>
      <p:ext uri="{BB962C8B-B14F-4D97-AF65-F5344CB8AC3E}">
        <p14:creationId xmlns:p14="http://schemas.microsoft.com/office/powerpoint/2010/main" val="1195329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EB7F7-DB7D-92AE-A04A-A996F4DE7818}"/>
              </a:ext>
            </a:extLst>
          </p:cNvPr>
          <p:cNvSpPr>
            <a:spLocks noGrp="1"/>
          </p:cNvSpPr>
          <p:nvPr>
            <p:ph type="title"/>
          </p:nvPr>
        </p:nvSpPr>
        <p:spPr/>
        <p:txBody>
          <a:bodyPr/>
          <a:lstStyle/>
          <a:p>
            <a:r>
              <a:rPr lang="en-US" dirty="0"/>
              <a:t>Conclusion &amp; Future Directions</a:t>
            </a:r>
          </a:p>
        </p:txBody>
      </p:sp>
      <p:sp>
        <p:nvSpPr>
          <p:cNvPr id="3" name="Content Placeholder 2">
            <a:extLst>
              <a:ext uri="{FF2B5EF4-FFF2-40B4-BE49-F238E27FC236}">
                <a16:creationId xmlns:a16="http://schemas.microsoft.com/office/drawing/2014/main" id="{C37272F5-7E2E-88C1-7EF4-BFE75D52467E}"/>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We built a fully reproducible machine learning pipeline that meets the problem’s requirements.</a:t>
            </a:r>
          </a:p>
          <a:p>
            <a:r>
              <a:rPr lang="en-US" dirty="0">
                <a:latin typeface="Times New Roman" panose="02020603050405020304" pitchFamily="18" charset="0"/>
                <a:cs typeface="Times New Roman" panose="02020603050405020304" pitchFamily="18" charset="0"/>
              </a:rPr>
              <a:t>We achieved TPR approx. 0.80 for learning difficulty cases and TPR approx. 0.85 for no-cases on test data initially and then we achieved 86.3 TPR for no cases and 75.7 TPR for yes cases. AUC = 0.88 and stable metrics across folds indicate the model generalizes well. The pipeline’s use of balancing, CV tuning and rigorous evaluation ensures confidence in the results.</a:t>
            </a:r>
          </a:p>
          <a:p>
            <a:r>
              <a:rPr lang="en-US" dirty="0">
                <a:latin typeface="Times New Roman" panose="02020603050405020304" pitchFamily="18" charset="0"/>
                <a:cs typeface="Times New Roman" panose="02020603050405020304" pitchFamily="18" charset="0"/>
              </a:rPr>
              <a:t>Feature importance analysis confirmed that the model is leveraging meaningful predictors.</a:t>
            </a:r>
          </a:p>
          <a:p>
            <a:r>
              <a:rPr lang="en-US" dirty="0">
                <a:latin typeface="Times New Roman" panose="02020603050405020304" pitchFamily="18" charset="0"/>
                <a:cs typeface="Times New Roman" panose="02020603050405020304" pitchFamily="18" charset="0"/>
              </a:rPr>
              <a:t>The chosen model could be used as a decision support tool for early screening of learning difficulties. For e.g., health practitioner’s or educators could flag at risk children. </a:t>
            </a:r>
          </a:p>
          <a:p>
            <a:r>
              <a:rPr lang="en-US" dirty="0">
                <a:latin typeface="Times New Roman" panose="02020603050405020304" pitchFamily="18" charset="0"/>
                <a:cs typeface="Times New Roman" panose="02020603050405020304" pitchFamily="18" charset="0"/>
              </a:rPr>
              <a:t>To further improve, we could explore ensemble-of-</a:t>
            </a:r>
            <a:r>
              <a:rPr lang="en-US" dirty="0" err="1">
                <a:latin typeface="Times New Roman" panose="02020603050405020304" pitchFamily="18" charset="0"/>
                <a:cs typeface="Times New Roman" panose="02020603050405020304" pitchFamily="18" charset="0"/>
              </a:rPr>
              <a:t>ensemblers</a:t>
            </a:r>
            <a:r>
              <a:rPr lang="en-US" dirty="0">
                <a:latin typeface="Times New Roman" panose="02020603050405020304" pitchFamily="18" charset="0"/>
                <a:cs typeface="Times New Roman" panose="02020603050405020304" pitchFamily="18" charset="0"/>
              </a:rPr>
              <a:t>(combining top models), voting classifiers, advanced hyperparameters tuning using Bayesian optimization. </a:t>
            </a:r>
          </a:p>
        </p:txBody>
      </p:sp>
    </p:spTree>
    <p:extLst>
      <p:ext uri="{BB962C8B-B14F-4D97-AF65-F5344CB8AC3E}">
        <p14:creationId xmlns:p14="http://schemas.microsoft.com/office/powerpoint/2010/main" val="3310660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EA2D65-BED9-058E-FDC3-7AB364997410}"/>
              </a:ext>
            </a:extLst>
          </p:cNvPr>
          <p:cNvSpPr>
            <a:spLocks noGrp="1"/>
          </p:cNvSpPr>
          <p:nvPr>
            <p:ph idx="1"/>
          </p:nvPr>
        </p:nvSpPr>
        <p:spPr/>
        <p:txBody>
          <a:bodyPr>
            <a:normAutofit/>
          </a:bodyPr>
          <a:lstStyle/>
          <a:p>
            <a:pPr algn="ctr"/>
            <a:r>
              <a:rPr lang="en-US" sz="6600" dirty="0"/>
              <a:t>THANKYOU</a:t>
            </a:r>
          </a:p>
        </p:txBody>
      </p:sp>
    </p:spTree>
    <p:extLst>
      <p:ext uri="{BB962C8B-B14F-4D97-AF65-F5344CB8AC3E}">
        <p14:creationId xmlns:p14="http://schemas.microsoft.com/office/powerpoint/2010/main" val="3082332113"/>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2.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3EEFF0-FB57-4CB4-8BFC-DF397689E2ED}">
  <ds:schemaRefs>
    <ds:schemaRef ds:uri="http://purl.org/dc/dcmitype/"/>
    <ds:schemaRef ds:uri="230e9df3-be65-4c73-a93b-d1236ebd677e"/>
    <ds:schemaRef ds:uri="http://schemas.microsoft.com/office/infopath/2007/PartnerControls"/>
    <ds:schemaRef ds:uri="http://schemas.openxmlformats.org/package/2006/metadata/core-properties"/>
    <ds:schemaRef ds:uri="16c05727-aa75-4e4a-9b5f-8a80a1165891"/>
    <ds:schemaRef ds:uri="http://www.w3.org/XML/1998/namespace"/>
    <ds:schemaRef ds:uri="http://schemas.microsoft.com/office/2006/documentManagement/types"/>
    <ds:schemaRef ds:uri="71af3243-3dd4-4a8d-8c0d-dd76da1f02a5"/>
    <ds:schemaRef ds:uri="http://purl.org/dc/elements/1.1/"/>
    <ds:schemaRef ds:uri="http://schemas.microsoft.com/sharepoint/v3"/>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{AEA0BA46-E65A-41F8-A9DF-36E98EE53BDD}tf22712842_win32</Template>
  <TotalTime>1170</TotalTime>
  <Words>3839</Words>
  <Application>Microsoft Office PowerPoint</Application>
  <PresentationFormat>Widescreen</PresentationFormat>
  <Paragraphs>186</Paragraphs>
  <Slides>21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Bookman Old Style</vt:lpstr>
      <vt:lpstr>Calibri</vt:lpstr>
      <vt:lpstr>Franklin Gothic Book</vt:lpstr>
      <vt:lpstr>Times New Roman</vt:lpstr>
      <vt:lpstr>Custom</vt:lpstr>
      <vt:lpstr>Classification for Early Screening of Childhood Learning Difficulties (NHIS 2024)</vt:lpstr>
      <vt:lpstr>Introduction &amp; Problem Statement</vt:lpstr>
      <vt:lpstr>Dataset Overview</vt:lpstr>
      <vt:lpstr>Data Characteristics &amp; Key Distributions</vt:lpstr>
      <vt:lpstr>Preprocessing – Cleaning &amp; Filtering</vt:lpstr>
      <vt:lpstr>Preprocessing – Imputation &amp; Transformation</vt:lpstr>
      <vt:lpstr>Train/Test Split &amp; Data Preparation</vt:lpstr>
      <vt:lpstr>Addressing Class Imbalance – Four Balancing Strategies</vt:lpstr>
      <vt:lpstr>Modeling Approach – Algorithms and Training </vt:lpstr>
      <vt:lpstr>Evaluation Metrics &amp; Model Selection Criteria</vt:lpstr>
      <vt:lpstr>Top Models</vt:lpstr>
      <vt:lpstr>Extended Validation and Best Model Update</vt:lpstr>
      <vt:lpstr>Evolution of XGBoost Hyperparameter Tuning</vt:lpstr>
      <vt:lpstr>3-Fold Cross Validation Selected Model Performance &amp; Comparison</vt:lpstr>
      <vt:lpstr>10-Fold Cross Validation Selected Models and Performance</vt:lpstr>
      <vt:lpstr>ROC Curve</vt:lpstr>
      <vt:lpstr>Feature Importance – What Drives the Model</vt:lpstr>
      <vt:lpstr>Algorithm Comparison </vt:lpstr>
      <vt:lpstr>Impact of Balancing Strategies</vt:lpstr>
      <vt:lpstr>Conclusion &amp; Future Directions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ARYAN SINGH</dc:creator>
  <cp:lastModifiedBy>ARYAN SINGH</cp:lastModifiedBy>
  <cp:revision>1</cp:revision>
  <dcterms:created xsi:type="dcterms:W3CDTF">2025-11-19T17:07:33Z</dcterms:created>
  <dcterms:modified xsi:type="dcterms:W3CDTF">2025-12-10T23:39:19Z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